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7"/>
    <p:restoredTop sz="94709"/>
  </p:normalViewPr>
  <p:slideViewPr>
    <p:cSldViewPr snapToGrid="0">
      <p:cViewPr varScale="1">
        <p:scale>
          <a:sx n="102" d="100"/>
          <a:sy n="102" d="100"/>
        </p:scale>
        <p:origin x="64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0558FD0-CD0A-E440-98DD-5F51EA6DDDF5}" type="datetimeFigureOut">
              <a:rPr lang="en-US" smtClean="0"/>
              <a:t>11/30/25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55346" y="2750337"/>
            <a:ext cx="1171888" cy="1356442"/>
          </a:xfrm>
        </p:spPr>
        <p:txBody>
          <a:bodyPr/>
          <a:lstStyle/>
          <a:p>
            <a:fld id="{0215FF04-C33A-7440-AE89-45C488B8314C}" type="slidenum">
              <a:rPr lang="en-US" smtClean="0"/>
              <a:t>‹#›</a:t>
            </a:fld>
            <a:endParaRPr lang="en-US"/>
          </a:p>
        </p:txBody>
      </p:sp>
    </p:spTree>
    <p:extLst>
      <p:ext uri="{BB962C8B-B14F-4D97-AF65-F5344CB8AC3E}">
        <p14:creationId xmlns:p14="http://schemas.microsoft.com/office/powerpoint/2010/main" val="4037405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558FD0-CD0A-E440-98DD-5F51EA6DDDF5}" type="datetimeFigureOut">
              <a:rPr lang="en-US" smtClean="0"/>
              <a:t>11/30/25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15FF04-C33A-7440-AE89-45C488B8314C}" type="slidenum">
              <a:rPr lang="en-US" smtClean="0"/>
              <a:t>‹#›</a:t>
            </a:fld>
            <a:endParaRPr lang="en-US"/>
          </a:p>
        </p:txBody>
      </p:sp>
    </p:spTree>
    <p:extLst>
      <p:ext uri="{BB962C8B-B14F-4D97-AF65-F5344CB8AC3E}">
        <p14:creationId xmlns:p14="http://schemas.microsoft.com/office/powerpoint/2010/main" val="2342694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558FD0-CD0A-E440-98DD-5F51EA6DDDF5}" type="datetimeFigureOut">
              <a:rPr lang="en-US" smtClean="0"/>
              <a:t>11/30/25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729455" y="2869895"/>
            <a:ext cx="1154151" cy="1090789"/>
          </a:xfrm>
        </p:spPr>
        <p:txBody>
          <a:bodyPr/>
          <a:lstStyle/>
          <a:p>
            <a:fld id="{0215FF04-C33A-7440-AE89-45C488B8314C}" type="slidenum">
              <a:rPr lang="en-US" smtClean="0"/>
              <a:t>‹#›</a:t>
            </a:fld>
            <a:endParaRPr lang="en-US"/>
          </a:p>
        </p:txBody>
      </p:sp>
    </p:spTree>
    <p:extLst>
      <p:ext uri="{BB962C8B-B14F-4D97-AF65-F5344CB8AC3E}">
        <p14:creationId xmlns:p14="http://schemas.microsoft.com/office/powerpoint/2010/main" val="20879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0558FD0-CD0A-E440-98DD-5F51EA6DDDF5}" type="datetimeFigureOut">
              <a:rPr lang="en-US" smtClean="0"/>
              <a:t>11/30/25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15FF04-C33A-7440-AE89-45C488B8314C}" type="slidenum">
              <a:rPr lang="en-US" smtClean="0"/>
              <a:t>‹#›</a:t>
            </a:fld>
            <a:endParaRPr lang="en-US"/>
          </a:p>
        </p:txBody>
      </p:sp>
    </p:spTree>
    <p:extLst>
      <p:ext uri="{BB962C8B-B14F-4D97-AF65-F5344CB8AC3E}">
        <p14:creationId xmlns:p14="http://schemas.microsoft.com/office/powerpoint/2010/main" val="1800769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0558FD0-CD0A-E440-98DD-5F51EA6DDDF5}" type="datetimeFigureOut">
              <a:rPr lang="en-US" smtClean="0"/>
              <a:t>11/30/25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15FF04-C33A-7440-AE89-45C488B8314C}" type="slidenum">
              <a:rPr lang="en-US" smtClean="0"/>
              <a:t>‹#›</a:t>
            </a:fld>
            <a:endParaRPr lang="en-US"/>
          </a:p>
        </p:txBody>
      </p:sp>
    </p:spTree>
    <p:extLst>
      <p:ext uri="{BB962C8B-B14F-4D97-AF65-F5344CB8AC3E}">
        <p14:creationId xmlns:p14="http://schemas.microsoft.com/office/powerpoint/2010/main" val="1899565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0558FD0-CD0A-E440-98DD-5F51EA6DDDF5}" type="datetimeFigureOut">
              <a:rPr lang="en-US" smtClean="0"/>
              <a:t>11/30/25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15FF04-C33A-7440-AE89-45C488B8314C}" type="slidenum">
              <a:rPr lang="en-US" smtClean="0"/>
              <a:t>‹#›</a:t>
            </a:fld>
            <a:endParaRPr lang="en-US"/>
          </a:p>
        </p:txBody>
      </p:sp>
    </p:spTree>
    <p:extLst>
      <p:ext uri="{BB962C8B-B14F-4D97-AF65-F5344CB8AC3E}">
        <p14:creationId xmlns:p14="http://schemas.microsoft.com/office/powerpoint/2010/main" val="2161261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Date Placeholder 1"/>
          <p:cNvSpPr>
            <a:spLocks noGrp="1"/>
          </p:cNvSpPr>
          <p:nvPr>
            <p:ph type="dt" sz="half" idx="10"/>
          </p:nvPr>
        </p:nvSpPr>
        <p:spPr/>
        <p:txBody>
          <a:bodyPr/>
          <a:lstStyle/>
          <a:p>
            <a:fld id="{20558FD0-CD0A-E440-98DD-5F51EA6DDDF5}" type="datetimeFigureOut">
              <a:rPr lang="en-US" smtClean="0"/>
              <a:t>11/30/25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215FF04-C33A-7440-AE89-45C488B8314C}" type="slidenum">
              <a:rPr lang="en-US" smtClean="0"/>
              <a:t>‹#›</a:t>
            </a:fld>
            <a:endParaRPr lang="en-US"/>
          </a:p>
        </p:txBody>
      </p:sp>
    </p:spTree>
    <p:extLst>
      <p:ext uri="{BB962C8B-B14F-4D97-AF65-F5344CB8AC3E}">
        <p14:creationId xmlns:p14="http://schemas.microsoft.com/office/powerpoint/2010/main" val="826454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558FD0-CD0A-E440-98DD-5F51EA6DDDF5}" type="datetimeFigureOut">
              <a:rPr lang="en-US" smtClean="0"/>
              <a:t>11/30/25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15FF04-C33A-7440-AE89-45C488B8314C}" type="slidenum">
              <a:rPr lang="en-US" smtClean="0"/>
              <a:t>‹#›</a:t>
            </a:fld>
            <a:endParaRPr lang="en-US"/>
          </a:p>
        </p:txBody>
      </p:sp>
    </p:spTree>
    <p:extLst>
      <p:ext uri="{BB962C8B-B14F-4D97-AF65-F5344CB8AC3E}">
        <p14:creationId xmlns:p14="http://schemas.microsoft.com/office/powerpoint/2010/main" val="904504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558FD0-CD0A-E440-98DD-5F51EA6DDDF5}" type="datetimeFigureOut">
              <a:rPr lang="en-US" smtClean="0"/>
              <a:t>11/30/25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15FF04-C33A-7440-AE89-45C488B8314C}" type="slidenum">
              <a:rPr lang="en-US" smtClean="0"/>
              <a:t>‹#›</a:t>
            </a:fld>
            <a:endParaRPr lang="en-US"/>
          </a:p>
        </p:txBody>
      </p:sp>
    </p:spTree>
    <p:extLst>
      <p:ext uri="{BB962C8B-B14F-4D97-AF65-F5344CB8AC3E}">
        <p14:creationId xmlns:p14="http://schemas.microsoft.com/office/powerpoint/2010/main" val="2579682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558FD0-CD0A-E440-98DD-5F51EA6DDDF5}" type="datetimeFigureOut">
              <a:rPr lang="en-US" smtClean="0"/>
              <a:t>11/30/25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309"/>
            <a:ext cx="1154151" cy="1090789"/>
          </a:xfrm>
        </p:spPr>
        <p:txBody>
          <a:bodyPr/>
          <a:lstStyle/>
          <a:p>
            <a:fld id="{0215FF04-C33A-7440-AE89-45C488B8314C}" type="slidenum">
              <a:rPr lang="en-US" smtClean="0"/>
              <a:t>‹#›</a:t>
            </a:fld>
            <a:endParaRPr lang="en-US"/>
          </a:p>
        </p:txBody>
      </p:sp>
    </p:spTree>
    <p:extLst>
      <p:ext uri="{BB962C8B-B14F-4D97-AF65-F5344CB8AC3E}">
        <p14:creationId xmlns:p14="http://schemas.microsoft.com/office/powerpoint/2010/main" val="84950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558FD0-CD0A-E440-98DD-5F51EA6DDDF5}" type="datetimeFigureOut">
              <a:rPr lang="en-US" smtClean="0"/>
              <a:t>11/30/25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0215FF04-C33A-7440-AE89-45C488B8314C}" type="slidenum">
              <a:rPr lang="en-US" smtClean="0"/>
              <a:t>‹#›</a:t>
            </a:fld>
            <a:endParaRPr lang="en-US"/>
          </a:p>
        </p:txBody>
      </p:sp>
    </p:spTree>
    <p:extLst>
      <p:ext uri="{BB962C8B-B14F-4D97-AF65-F5344CB8AC3E}">
        <p14:creationId xmlns:p14="http://schemas.microsoft.com/office/powerpoint/2010/main" val="31356342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558FD0-CD0A-E440-98DD-5F51EA6DDDF5}" type="datetimeFigureOut">
              <a:rPr lang="en-US" smtClean="0"/>
              <a:t>11/30/25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0215FF04-C33A-7440-AE89-45C488B8314C}" type="slidenum">
              <a:rPr lang="en-US" smtClean="0"/>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35809113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0558FD0-CD0A-E440-98DD-5F51EA6DDDF5}" type="datetimeFigureOut">
              <a:rPr lang="en-US" smtClean="0"/>
              <a:t>11/30/25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0215FF04-C33A-7440-AE89-45C488B8314C}" type="slidenum">
              <a:rPr lang="en-US" smtClean="0"/>
              <a:t>‹#›</a:t>
            </a:fld>
            <a:endParaRPr lang="en-US"/>
          </a:p>
        </p:txBody>
      </p:sp>
    </p:spTree>
    <p:extLst>
      <p:ext uri="{BB962C8B-B14F-4D97-AF65-F5344CB8AC3E}">
        <p14:creationId xmlns:p14="http://schemas.microsoft.com/office/powerpoint/2010/main" val="39381371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0558FD0-CD0A-E440-98DD-5F51EA6DDDF5}" type="datetimeFigureOut">
              <a:rPr lang="en-US" smtClean="0"/>
              <a:t>11/30/25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15FF04-C33A-7440-AE89-45C488B8314C}" type="slidenum">
              <a:rPr lang="en-US" smtClean="0"/>
              <a:t>‹#›</a:t>
            </a:fld>
            <a:endParaRPr lang="en-US"/>
          </a:p>
        </p:txBody>
      </p:sp>
    </p:spTree>
    <p:extLst>
      <p:ext uri="{BB962C8B-B14F-4D97-AF65-F5344CB8AC3E}">
        <p14:creationId xmlns:p14="http://schemas.microsoft.com/office/powerpoint/2010/main" val="9438321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0558FD0-CD0A-E440-98DD-5F51EA6DDDF5}" type="datetimeFigureOut">
              <a:rPr lang="en-US" smtClean="0"/>
              <a:t>11/30/25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15FF04-C33A-7440-AE89-45C488B8314C}" type="slidenum">
              <a:rPr lang="en-US" smtClean="0"/>
              <a:t>‹#›</a:t>
            </a:fld>
            <a:endParaRPr lang="en-US"/>
          </a:p>
        </p:txBody>
      </p:sp>
    </p:spTree>
    <p:extLst>
      <p:ext uri="{BB962C8B-B14F-4D97-AF65-F5344CB8AC3E}">
        <p14:creationId xmlns:p14="http://schemas.microsoft.com/office/powerpoint/2010/main" val="10841369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558FD0-CD0A-E440-98DD-5F51EA6DDDF5}" type="datetimeFigureOut">
              <a:rPr lang="en-US" smtClean="0"/>
              <a:t>11/30/25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15FF04-C33A-7440-AE89-45C488B8314C}" type="slidenum">
              <a:rPr lang="en-US" smtClean="0"/>
              <a:t>‹#›</a:t>
            </a:fld>
            <a:endParaRPr lang="en-US"/>
          </a:p>
        </p:txBody>
      </p:sp>
    </p:spTree>
    <p:extLst>
      <p:ext uri="{BB962C8B-B14F-4D97-AF65-F5344CB8AC3E}">
        <p14:creationId xmlns:p14="http://schemas.microsoft.com/office/powerpoint/2010/main" val="34535310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20558FD0-CD0A-E440-98DD-5F51EA6DDDF5}" type="datetimeFigureOut">
              <a:rPr lang="en-US" smtClean="0"/>
              <a:t>11/30/25</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0215FF04-C33A-7440-AE89-45C488B8314C}" type="slidenum">
              <a:rPr lang="en-US" smtClean="0"/>
              <a:t>‹#›</a:t>
            </a:fld>
            <a:endParaRPr lang="en-US"/>
          </a:p>
        </p:txBody>
      </p:sp>
    </p:spTree>
    <p:extLst>
      <p:ext uri="{BB962C8B-B14F-4D97-AF65-F5344CB8AC3E}">
        <p14:creationId xmlns:p14="http://schemas.microsoft.com/office/powerpoint/2010/main" val="3120640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0558FD0-CD0A-E440-98DD-5F51EA6DDDF5}" type="datetimeFigureOut">
              <a:rPr lang="en-US" smtClean="0"/>
              <a:t>11/30/25</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0215FF04-C33A-7440-AE89-45C488B8314C}" type="slidenum">
              <a:rPr lang="en-US" smtClean="0"/>
              <a:t>‹#›</a:t>
            </a:fld>
            <a:endParaRPr lang="en-US"/>
          </a:p>
        </p:txBody>
      </p:sp>
    </p:spTree>
    <p:extLst>
      <p:ext uri="{BB962C8B-B14F-4D97-AF65-F5344CB8AC3E}">
        <p14:creationId xmlns:p14="http://schemas.microsoft.com/office/powerpoint/2010/main" val="83652041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48A82-26F6-391C-A9AF-B5E8CFAEE028}"/>
              </a:ext>
            </a:extLst>
          </p:cNvPr>
          <p:cNvSpPr>
            <a:spLocks noGrp="1"/>
          </p:cNvSpPr>
          <p:nvPr>
            <p:ph type="ctrTitle"/>
          </p:nvPr>
        </p:nvSpPr>
        <p:spPr/>
        <p:txBody>
          <a:bodyPr/>
          <a:lstStyle/>
          <a:p>
            <a:r>
              <a:rPr lang="en-US" dirty="0"/>
              <a:t>Card Colosseum: War</a:t>
            </a:r>
          </a:p>
        </p:txBody>
      </p:sp>
      <p:sp>
        <p:nvSpPr>
          <p:cNvPr id="3" name="Subtitle 2">
            <a:extLst>
              <a:ext uri="{FF2B5EF4-FFF2-40B4-BE49-F238E27FC236}">
                <a16:creationId xmlns:a16="http://schemas.microsoft.com/office/drawing/2014/main" id="{D07977C8-B11D-B5B0-4531-72405AA3F5E0}"/>
              </a:ext>
            </a:extLst>
          </p:cNvPr>
          <p:cNvSpPr>
            <a:spLocks noGrp="1"/>
          </p:cNvSpPr>
          <p:nvPr>
            <p:ph type="subTitle" idx="1"/>
          </p:nvPr>
        </p:nvSpPr>
        <p:spPr/>
        <p:txBody>
          <a:bodyPr/>
          <a:lstStyle/>
          <a:p>
            <a:r>
              <a:rPr lang="en-US" dirty="0"/>
              <a:t>Justin Birge, Keegan Pendleton, and Azaria Reed</a:t>
            </a:r>
          </a:p>
        </p:txBody>
      </p:sp>
    </p:spTree>
    <p:extLst>
      <p:ext uri="{BB962C8B-B14F-4D97-AF65-F5344CB8AC3E}">
        <p14:creationId xmlns:p14="http://schemas.microsoft.com/office/powerpoint/2010/main" val="2286006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50308-E812-8438-E6C2-A7D22A11D8A4}"/>
              </a:ext>
            </a:extLst>
          </p:cNvPr>
          <p:cNvSpPr>
            <a:spLocks noGrp="1"/>
          </p:cNvSpPr>
          <p:nvPr>
            <p:ph type="title"/>
          </p:nvPr>
        </p:nvSpPr>
        <p:spPr/>
        <p:txBody>
          <a:bodyPr/>
          <a:lstStyle/>
          <a:p>
            <a:r>
              <a:rPr lang="en-US" dirty="0"/>
              <a:t>Why We Chose </a:t>
            </a:r>
            <a:r>
              <a:rPr lang="en-US" i="1" dirty="0"/>
              <a:t>War</a:t>
            </a:r>
          </a:p>
        </p:txBody>
      </p:sp>
      <p:sp>
        <p:nvSpPr>
          <p:cNvPr id="4" name="Content Placeholder 3">
            <a:extLst>
              <a:ext uri="{FF2B5EF4-FFF2-40B4-BE49-F238E27FC236}">
                <a16:creationId xmlns:a16="http://schemas.microsoft.com/office/drawing/2014/main" id="{0ACEF8CF-86F3-A1F0-61FF-FB2BABE7E090}"/>
              </a:ext>
            </a:extLst>
          </p:cNvPr>
          <p:cNvSpPr>
            <a:spLocks noGrp="1"/>
          </p:cNvSpPr>
          <p:nvPr>
            <p:ph sz="half" idx="1"/>
          </p:nvPr>
        </p:nvSpPr>
        <p:spPr/>
        <p:txBody>
          <a:bodyPr/>
          <a:lstStyle/>
          <a:p>
            <a:r>
              <a:rPr lang="en-US" dirty="0"/>
              <a:t>No prior game development experience</a:t>
            </a:r>
          </a:p>
          <a:p>
            <a:r>
              <a:rPr lang="en-US" dirty="0"/>
              <a:t>No prior Unity experience</a:t>
            </a:r>
          </a:p>
          <a:p>
            <a:r>
              <a:rPr lang="en-US" dirty="0"/>
              <a:t>No prior digital art experience</a:t>
            </a:r>
          </a:p>
          <a:p>
            <a:r>
              <a:rPr lang="en-US" dirty="0"/>
              <a:t>Simple base</a:t>
            </a:r>
          </a:p>
          <a:p>
            <a:r>
              <a:rPr lang="en-US" dirty="0"/>
              <a:t>Room to innovate</a:t>
            </a:r>
          </a:p>
        </p:txBody>
      </p:sp>
      <p:sp>
        <p:nvSpPr>
          <p:cNvPr id="5" name="Content Placeholder 4">
            <a:extLst>
              <a:ext uri="{FF2B5EF4-FFF2-40B4-BE49-F238E27FC236}">
                <a16:creationId xmlns:a16="http://schemas.microsoft.com/office/drawing/2014/main" id="{9096D1C7-7D89-21AA-F430-93A299F5CFAF}"/>
              </a:ext>
            </a:extLst>
          </p:cNvPr>
          <p:cNvSpPr>
            <a:spLocks noGrp="1"/>
          </p:cNvSpPr>
          <p:nvPr>
            <p:ph sz="half" idx="2"/>
          </p:nvPr>
        </p:nvSpPr>
        <p:spPr/>
        <p:txBody>
          <a:bodyPr/>
          <a:lstStyle/>
          <a:p>
            <a:pPr marL="0" indent="0">
              <a:buNone/>
            </a:pPr>
            <a:r>
              <a:rPr lang="en-US" i="1" dirty="0"/>
              <a:t>Card Colosseum: Wa</a:t>
            </a:r>
            <a:r>
              <a:rPr lang="en-US" dirty="0"/>
              <a:t>r is our puzzle-action reinterpretation of the classic card game of </a:t>
            </a:r>
            <a:r>
              <a:rPr lang="en-US" i="1" dirty="0"/>
              <a:t>War</a:t>
            </a:r>
            <a:r>
              <a:rPr lang="en-US" dirty="0"/>
              <a:t>. None of us had prior experience with game development, Unity, or digital art, so we chose a project within scope and transformed it into something unique and meaningful.</a:t>
            </a:r>
          </a:p>
        </p:txBody>
      </p:sp>
    </p:spTree>
    <p:extLst>
      <p:ext uri="{BB962C8B-B14F-4D97-AF65-F5344CB8AC3E}">
        <p14:creationId xmlns:p14="http://schemas.microsoft.com/office/powerpoint/2010/main" val="1436913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4FE45-AF41-3CB0-62E3-B399856897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B1D24C-9B36-969A-24B5-B9810081D4A2}"/>
              </a:ext>
            </a:extLst>
          </p:cNvPr>
          <p:cNvSpPr>
            <a:spLocks noGrp="1"/>
          </p:cNvSpPr>
          <p:nvPr>
            <p:ph type="title"/>
          </p:nvPr>
        </p:nvSpPr>
        <p:spPr/>
        <p:txBody>
          <a:bodyPr/>
          <a:lstStyle/>
          <a:p>
            <a:r>
              <a:rPr lang="en-US" dirty="0"/>
              <a:t>Why We Chose </a:t>
            </a:r>
            <a:r>
              <a:rPr lang="en-US" i="1" dirty="0"/>
              <a:t>War</a:t>
            </a:r>
          </a:p>
        </p:txBody>
      </p:sp>
      <p:sp>
        <p:nvSpPr>
          <p:cNvPr id="9" name="Content Placeholder 8">
            <a:extLst>
              <a:ext uri="{FF2B5EF4-FFF2-40B4-BE49-F238E27FC236}">
                <a16:creationId xmlns:a16="http://schemas.microsoft.com/office/drawing/2014/main" id="{45307EF9-1455-2A40-3479-E7D975CD83FF}"/>
              </a:ext>
            </a:extLst>
          </p:cNvPr>
          <p:cNvSpPr>
            <a:spLocks noGrp="1"/>
          </p:cNvSpPr>
          <p:nvPr>
            <p:ph idx="1"/>
          </p:nvPr>
        </p:nvSpPr>
        <p:spPr/>
        <p:txBody>
          <a:bodyPr/>
          <a:lstStyle/>
          <a:p>
            <a:pPr marL="0" indent="0">
              <a:buNone/>
            </a:pPr>
            <a:r>
              <a:rPr lang="en-US" dirty="0"/>
              <a:t>Precisely, we wanted a game that was simple enough to learn quickly but flexible enough to change. War was perfect for that. The rules are simple, and because it’s traditionally a luck-based game, we could add elements that made gameplay more strategic, dramatic, and meaningful.</a:t>
            </a:r>
          </a:p>
        </p:txBody>
      </p:sp>
    </p:spTree>
    <p:extLst>
      <p:ext uri="{BB962C8B-B14F-4D97-AF65-F5344CB8AC3E}">
        <p14:creationId xmlns:p14="http://schemas.microsoft.com/office/powerpoint/2010/main" val="2075788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83823-B07A-A3E1-0558-7BF2A4856533}"/>
              </a:ext>
            </a:extLst>
          </p:cNvPr>
          <p:cNvSpPr>
            <a:spLocks noGrp="1"/>
          </p:cNvSpPr>
          <p:nvPr>
            <p:ph type="title"/>
          </p:nvPr>
        </p:nvSpPr>
        <p:spPr/>
        <p:txBody>
          <a:bodyPr/>
          <a:lstStyle/>
          <a:p>
            <a:r>
              <a:rPr lang="en-US" dirty="0"/>
              <a:t>Basics of </a:t>
            </a:r>
            <a:r>
              <a:rPr lang="en-US" i="1" dirty="0"/>
              <a:t>War</a:t>
            </a:r>
            <a:endParaRPr lang="en-US" dirty="0"/>
          </a:p>
        </p:txBody>
      </p:sp>
      <p:sp>
        <p:nvSpPr>
          <p:cNvPr id="5" name="Content Placeholder 4">
            <a:extLst>
              <a:ext uri="{FF2B5EF4-FFF2-40B4-BE49-F238E27FC236}">
                <a16:creationId xmlns:a16="http://schemas.microsoft.com/office/drawing/2014/main" id="{6AB4628F-F1F7-900C-0782-0442B073FFFF}"/>
              </a:ext>
            </a:extLst>
          </p:cNvPr>
          <p:cNvSpPr>
            <a:spLocks noGrp="1"/>
          </p:cNvSpPr>
          <p:nvPr>
            <p:ph sz="half" idx="1"/>
          </p:nvPr>
        </p:nvSpPr>
        <p:spPr/>
        <p:txBody>
          <a:bodyPr>
            <a:normAutofit lnSpcReduction="10000"/>
          </a:bodyPr>
          <a:lstStyle/>
          <a:p>
            <a:r>
              <a:rPr lang="en-US" dirty="0"/>
              <a:t>Traditional </a:t>
            </a:r>
            <a:r>
              <a:rPr lang="en-US" i="1" dirty="0"/>
              <a:t>War</a:t>
            </a:r>
            <a:endParaRPr lang="en-US" dirty="0"/>
          </a:p>
          <a:p>
            <a:r>
              <a:rPr lang="en-US" dirty="0"/>
              <a:t>Scoring instead of stealing cards</a:t>
            </a:r>
          </a:p>
        </p:txBody>
      </p:sp>
      <p:sp>
        <p:nvSpPr>
          <p:cNvPr id="9" name="Content Placeholder 8">
            <a:extLst>
              <a:ext uri="{FF2B5EF4-FFF2-40B4-BE49-F238E27FC236}">
                <a16:creationId xmlns:a16="http://schemas.microsoft.com/office/drawing/2014/main" id="{4C7C4EDB-CC59-66C0-FB2D-186FF8DA9796}"/>
              </a:ext>
            </a:extLst>
          </p:cNvPr>
          <p:cNvSpPr>
            <a:spLocks noGrp="1"/>
          </p:cNvSpPr>
          <p:nvPr>
            <p:ph sz="half" idx="2"/>
          </p:nvPr>
        </p:nvSpPr>
        <p:spPr/>
        <p:txBody>
          <a:bodyPr>
            <a:normAutofit lnSpcReduction="10000"/>
          </a:bodyPr>
          <a:lstStyle/>
          <a:p>
            <a:pPr marL="0" indent="0">
              <a:buNone/>
            </a:pPr>
            <a:r>
              <a:rPr lang="en-US" dirty="0"/>
              <a:t>In standard </a:t>
            </a:r>
            <a:r>
              <a:rPr lang="en-US" i="1" dirty="0"/>
              <a:t>War</a:t>
            </a:r>
            <a:r>
              <a:rPr lang="en-US" dirty="0"/>
              <a:t>, both players flip cards, and the higher card wins; ties lead to a multi-card “war.” In our version, the player and the AI each have their own deck, and, instead of taking cards, a scoring system tracks performance. These aren’t even our most significant changes: they just set the foundation for puzzle and action elements.</a:t>
            </a:r>
          </a:p>
        </p:txBody>
      </p:sp>
    </p:spTree>
    <p:extLst>
      <p:ext uri="{BB962C8B-B14F-4D97-AF65-F5344CB8AC3E}">
        <p14:creationId xmlns:p14="http://schemas.microsoft.com/office/powerpoint/2010/main" val="4281421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B9C72-28C3-E286-4A3D-6B48D0C02916}"/>
              </a:ext>
            </a:extLst>
          </p:cNvPr>
          <p:cNvSpPr>
            <a:spLocks noGrp="1"/>
          </p:cNvSpPr>
          <p:nvPr>
            <p:ph type="title"/>
          </p:nvPr>
        </p:nvSpPr>
        <p:spPr/>
        <p:txBody>
          <a:bodyPr/>
          <a:lstStyle/>
          <a:p>
            <a:r>
              <a:rPr lang="en-US" dirty="0"/>
              <a:t>What Makes Our Game Unique</a:t>
            </a:r>
          </a:p>
        </p:txBody>
      </p:sp>
      <p:sp>
        <p:nvSpPr>
          <p:cNvPr id="3" name="Content Placeholder 2">
            <a:extLst>
              <a:ext uri="{FF2B5EF4-FFF2-40B4-BE49-F238E27FC236}">
                <a16:creationId xmlns:a16="http://schemas.microsoft.com/office/drawing/2014/main" id="{45FC620C-5830-2F18-9B98-9A9745597E25}"/>
              </a:ext>
            </a:extLst>
          </p:cNvPr>
          <p:cNvSpPr>
            <a:spLocks noGrp="1"/>
          </p:cNvSpPr>
          <p:nvPr>
            <p:ph sz="half" idx="1"/>
          </p:nvPr>
        </p:nvSpPr>
        <p:spPr/>
        <p:txBody>
          <a:bodyPr>
            <a:normAutofit fontScale="92500" lnSpcReduction="10000"/>
          </a:bodyPr>
          <a:lstStyle/>
          <a:p>
            <a:r>
              <a:rPr lang="en-US" dirty="0"/>
              <a:t>Tactical Option Points</a:t>
            </a:r>
          </a:p>
          <a:p>
            <a:r>
              <a:rPr lang="en-US" dirty="0"/>
              <a:t>Timing mini-game for ties</a:t>
            </a:r>
          </a:p>
          <a:p>
            <a:r>
              <a:rPr lang="en-US" dirty="0"/>
              <a:t>Strategy + reflex = puzzle/action</a:t>
            </a:r>
          </a:p>
        </p:txBody>
      </p:sp>
      <p:sp>
        <p:nvSpPr>
          <p:cNvPr id="4" name="Content Placeholder 3">
            <a:extLst>
              <a:ext uri="{FF2B5EF4-FFF2-40B4-BE49-F238E27FC236}">
                <a16:creationId xmlns:a16="http://schemas.microsoft.com/office/drawing/2014/main" id="{D460BAC3-1B3D-7CB0-8288-E01738D7DB5B}"/>
              </a:ext>
            </a:extLst>
          </p:cNvPr>
          <p:cNvSpPr>
            <a:spLocks noGrp="1"/>
          </p:cNvSpPr>
          <p:nvPr>
            <p:ph sz="half" idx="2"/>
          </p:nvPr>
        </p:nvSpPr>
        <p:spPr/>
        <p:txBody>
          <a:bodyPr>
            <a:normAutofit fontScale="92500" lnSpcReduction="10000"/>
          </a:bodyPr>
          <a:lstStyle/>
          <a:p>
            <a:pPr marL="0" indent="0">
              <a:buNone/>
            </a:pPr>
            <a:r>
              <a:rPr lang="en-US" dirty="0"/>
              <a:t>We introduced two significant changes: tactical Option Points and timing mini-games for ties. To elaborate, Option Points let you Peek, Swap, or Burn cards, giving you planning and resource-management decisions that turn the game into a puzzle. Ties trigger a reflex-based timing mini-game: something only possible in a digital format. This blend is what firmly shifts the game into the puzzle-action genre. </a:t>
            </a:r>
          </a:p>
        </p:txBody>
      </p:sp>
    </p:spTree>
    <p:extLst>
      <p:ext uri="{BB962C8B-B14F-4D97-AF65-F5344CB8AC3E}">
        <p14:creationId xmlns:p14="http://schemas.microsoft.com/office/powerpoint/2010/main" val="1304190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278D6-E4AC-912F-1782-658D5C52EC4E}"/>
              </a:ext>
            </a:extLst>
          </p:cNvPr>
          <p:cNvSpPr>
            <a:spLocks noGrp="1"/>
          </p:cNvSpPr>
          <p:nvPr>
            <p:ph type="title"/>
          </p:nvPr>
        </p:nvSpPr>
        <p:spPr/>
        <p:txBody>
          <a:bodyPr/>
          <a:lstStyle/>
          <a:p>
            <a:r>
              <a:rPr lang="en-US" dirty="0"/>
              <a:t>Game Story/Scenario</a:t>
            </a:r>
          </a:p>
        </p:txBody>
      </p:sp>
      <p:sp>
        <p:nvSpPr>
          <p:cNvPr id="3" name="Content Placeholder 2">
            <a:extLst>
              <a:ext uri="{FF2B5EF4-FFF2-40B4-BE49-F238E27FC236}">
                <a16:creationId xmlns:a16="http://schemas.microsoft.com/office/drawing/2014/main" id="{53F57206-9CC9-484F-FC81-089FDF33F8A7}"/>
              </a:ext>
            </a:extLst>
          </p:cNvPr>
          <p:cNvSpPr>
            <a:spLocks noGrp="1"/>
          </p:cNvSpPr>
          <p:nvPr>
            <p:ph sz="half" idx="1"/>
          </p:nvPr>
        </p:nvSpPr>
        <p:spPr/>
        <p:txBody>
          <a:bodyPr/>
          <a:lstStyle/>
          <a:p>
            <a:r>
              <a:rPr lang="en-US" dirty="0"/>
              <a:t>Background-driven narrative</a:t>
            </a:r>
          </a:p>
          <a:p>
            <a:r>
              <a:rPr lang="en-US" dirty="0"/>
              <a:t>Emotional arc of war</a:t>
            </a:r>
          </a:p>
        </p:txBody>
      </p:sp>
      <p:sp>
        <p:nvSpPr>
          <p:cNvPr id="4" name="Content Placeholder 3">
            <a:extLst>
              <a:ext uri="{FF2B5EF4-FFF2-40B4-BE49-F238E27FC236}">
                <a16:creationId xmlns:a16="http://schemas.microsoft.com/office/drawing/2014/main" id="{89D15C78-E824-0362-FEDB-B8CD4F1490B8}"/>
              </a:ext>
            </a:extLst>
          </p:cNvPr>
          <p:cNvSpPr>
            <a:spLocks noGrp="1"/>
          </p:cNvSpPr>
          <p:nvPr>
            <p:ph sz="half" idx="2"/>
          </p:nvPr>
        </p:nvSpPr>
        <p:spPr/>
        <p:txBody>
          <a:bodyPr/>
          <a:lstStyle/>
          <a:p>
            <a:pPr marL="0" indent="0">
              <a:buNone/>
            </a:pPr>
            <a:r>
              <a:rPr lang="en-US" dirty="0"/>
              <a:t>Inspired by the game’s name, we chose to convey a narrative about the nature of war visually.</a:t>
            </a:r>
          </a:p>
        </p:txBody>
      </p:sp>
    </p:spTree>
    <p:extLst>
      <p:ext uri="{BB962C8B-B14F-4D97-AF65-F5344CB8AC3E}">
        <p14:creationId xmlns:p14="http://schemas.microsoft.com/office/powerpoint/2010/main" val="3974222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B26C4-8973-A1F5-B1EA-80B25AD9CDE3}"/>
              </a:ext>
            </a:extLst>
          </p:cNvPr>
          <p:cNvSpPr>
            <a:spLocks noGrp="1"/>
          </p:cNvSpPr>
          <p:nvPr>
            <p:ph type="title"/>
          </p:nvPr>
        </p:nvSpPr>
        <p:spPr/>
        <p:txBody>
          <a:bodyPr/>
          <a:lstStyle/>
          <a:p>
            <a:r>
              <a:rPr lang="en-US" dirty="0"/>
              <a:t>Game Story/Scenario</a:t>
            </a:r>
          </a:p>
        </p:txBody>
      </p:sp>
      <p:pic>
        <p:nvPicPr>
          <p:cNvPr id="7" name="Picture Placeholder 6" descr="A lone warrior on horseback">
            <a:extLst>
              <a:ext uri="{FF2B5EF4-FFF2-40B4-BE49-F238E27FC236}">
                <a16:creationId xmlns:a16="http://schemas.microsoft.com/office/drawing/2014/main" id="{DDE56DC0-E665-9641-E67A-6DB574672FBB}"/>
              </a:ext>
            </a:extLst>
          </p:cNvPr>
          <p:cNvPicPr>
            <a:picLocks noGrp="1" noChangeAspect="1"/>
          </p:cNvPicPr>
          <p:nvPr>
            <p:ph type="pic" idx="1"/>
          </p:nvPr>
        </p:nvPicPr>
        <p:blipFill>
          <a:blip r:embed="rId2"/>
          <a:srcRect t="16837" b="16837"/>
          <a:stretch>
            <a:fillRect/>
          </a:stretch>
        </p:blipFill>
        <p:spPr/>
      </p:pic>
      <p:sp>
        <p:nvSpPr>
          <p:cNvPr id="5" name="Text Placeholder 4">
            <a:extLst>
              <a:ext uri="{FF2B5EF4-FFF2-40B4-BE49-F238E27FC236}">
                <a16:creationId xmlns:a16="http://schemas.microsoft.com/office/drawing/2014/main" id="{E7E2F051-9311-B061-05DB-268664017729}"/>
              </a:ext>
            </a:extLst>
          </p:cNvPr>
          <p:cNvSpPr>
            <a:spLocks noGrp="1"/>
          </p:cNvSpPr>
          <p:nvPr>
            <p:ph type="body" sz="half" idx="2"/>
          </p:nvPr>
        </p:nvSpPr>
        <p:spPr/>
        <p:txBody>
          <a:bodyPr/>
          <a:lstStyle/>
          <a:p>
            <a:r>
              <a:rPr lang="en-US" dirty="0"/>
              <a:t>The opening image shows a lone warrior on horseback, reminding the player of the duty, burden, and resolve real soldiers carry into conflict.</a:t>
            </a:r>
          </a:p>
          <a:p>
            <a:endParaRPr lang="en-US" dirty="0"/>
          </a:p>
        </p:txBody>
      </p:sp>
    </p:spTree>
    <p:extLst>
      <p:ext uri="{BB962C8B-B14F-4D97-AF65-F5344CB8AC3E}">
        <p14:creationId xmlns:p14="http://schemas.microsoft.com/office/powerpoint/2010/main" val="305366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B3BCB-FCA2-BF4B-5945-2928E086F2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701459-598E-5BAD-3E77-C7CC39945668}"/>
              </a:ext>
            </a:extLst>
          </p:cNvPr>
          <p:cNvSpPr>
            <a:spLocks noGrp="1"/>
          </p:cNvSpPr>
          <p:nvPr>
            <p:ph type="title"/>
          </p:nvPr>
        </p:nvSpPr>
        <p:spPr/>
        <p:txBody>
          <a:bodyPr/>
          <a:lstStyle/>
          <a:p>
            <a:r>
              <a:rPr lang="en-US" dirty="0"/>
              <a:t>Game Story/Scenario</a:t>
            </a:r>
          </a:p>
        </p:txBody>
      </p:sp>
      <p:pic>
        <p:nvPicPr>
          <p:cNvPr id="6" name="Picture Placeholder 5" descr="The face of a child">
            <a:extLst>
              <a:ext uri="{FF2B5EF4-FFF2-40B4-BE49-F238E27FC236}">
                <a16:creationId xmlns:a16="http://schemas.microsoft.com/office/drawing/2014/main" id="{D6EEA6B2-9B27-A769-5C2D-412C8E7E6ED4}"/>
              </a:ext>
            </a:extLst>
          </p:cNvPr>
          <p:cNvPicPr>
            <a:picLocks noGrp="1" noChangeAspect="1"/>
          </p:cNvPicPr>
          <p:nvPr>
            <p:ph type="pic" idx="1"/>
          </p:nvPr>
        </p:nvPicPr>
        <p:blipFill>
          <a:blip r:embed="rId2"/>
          <a:srcRect l="2530" r="2530"/>
          <a:stretch>
            <a:fillRect/>
          </a:stretch>
        </p:blipFill>
        <p:spPr/>
      </p:pic>
      <p:sp>
        <p:nvSpPr>
          <p:cNvPr id="5" name="Text Placeholder 4">
            <a:extLst>
              <a:ext uri="{FF2B5EF4-FFF2-40B4-BE49-F238E27FC236}">
                <a16:creationId xmlns:a16="http://schemas.microsoft.com/office/drawing/2014/main" id="{4AA27F87-A4F6-BEC5-0D47-EB0E372DF2CC}"/>
              </a:ext>
            </a:extLst>
          </p:cNvPr>
          <p:cNvSpPr>
            <a:spLocks noGrp="1"/>
          </p:cNvSpPr>
          <p:nvPr>
            <p:ph type="body" sz="half" idx="2"/>
          </p:nvPr>
        </p:nvSpPr>
        <p:spPr/>
        <p:txBody>
          <a:bodyPr/>
          <a:lstStyle/>
          <a:p>
            <a:r>
              <a:rPr lang="en-US" dirty="0"/>
              <a:t>The gameplay shifts to the face of a child, representing the civilians, especially the families and children of soldiers, who pay the hidden cost of war. </a:t>
            </a:r>
          </a:p>
        </p:txBody>
      </p:sp>
    </p:spTree>
    <p:extLst>
      <p:ext uri="{BB962C8B-B14F-4D97-AF65-F5344CB8AC3E}">
        <p14:creationId xmlns:p14="http://schemas.microsoft.com/office/powerpoint/2010/main" val="3419327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1A802-A20B-AC9D-B464-4C2FC9C29E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5D6C2F-A9F1-6331-B597-2CFB98DB2482}"/>
              </a:ext>
            </a:extLst>
          </p:cNvPr>
          <p:cNvSpPr>
            <a:spLocks noGrp="1"/>
          </p:cNvSpPr>
          <p:nvPr>
            <p:ph type="title"/>
          </p:nvPr>
        </p:nvSpPr>
        <p:spPr/>
        <p:txBody>
          <a:bodyPr/>
          <a:lstStyle/>
          <a:p>
            <a:r>
              <a:rPr lang="en-US" dirty="0"/>
              <a:t>Game Story/Scenario</a:t>
            </a:r>
          </a:p>
        </p:txBody>
      </p:sp>
      <p:pic>
        <p:nvPicPr>
          <p:cNvPr id="6" name="Picture Placeholder 5" descr="Ancient ruins sinking into water">
            <a:extLst>
              <a:ext uri="{FF2B5EF4-FFF2-40B4-BE49-F238E27FC236}">
                <a16:creationId xmlns:a16="http://schemas.microsoft.com/office/drawing/2014/main" id="{5F21E64B-D888-F618-326E-FA7E3C03AFD6}"/>
              </a:ext>
            </a:extLst>
          </p:cNvPr>
          <p:cNvPicPr>
            <a:picLocks noGrp="1" noChangeAspect="1"/>
          </p:cNvPicPr>
          <p:nvPr>
            <p:ph type="pic" idx="1"/>
          </p:nvPr>
        </p:nvPicPr>
        <p:blipFill>
          <a:blip r:embed="rId2"/>
          <a:srcRect t="5967" b="5967"/>
          <a:stretch>
            <a:fillRect/>
          </a:stretch>
        </p:blipFill>
        <p:spPr/>
      </p:pic>
      <p:sp>
        <p:nvSpPr>
          <p:cNvPr id="5" name="Text Placeholder 4">
            <a:extLst>
              <a:ext uri="{FF2B5EF4-FFF2-40B4-BE49-F238E27FC236}">
                <a16:creationId xmlns:a16="http://schemas.microsoft.com/office/drawing/2014/main" id="{B7438082-8E80-AC9F-5239-28A3B2629C09}"/>
              </a:ext>
            </a:extLst>
          </p:cNvPr>
          <p:cNvSpPr>
            <a:spLocks noGrp="1"/>
          </p:cNvSpPr>
          <p:nvPr>
            <p:ph type="body" sz="half" idx="2"/>
          </p:nvPr>
        </p:nvSpPr>
        <p:spPr/>
        <p:txBody>
          <a:bodyPr/>
          <a:lstStyle/>
          <a:p>
            <a:r>
              <a:rPr lang="en-US" dirty="0"/>
              <a:t>The results screen shows ancient ruins sinking into water, conveying a loud message: even victory leaves destruction behind.</a:t>
            </a:r>
          </a:p>
        </p:txBody>
      </p:sp>
    </p:spTree>
    <p:extLst>
      <p:ext uri="{BB962C8B-B14F-4D97-AF65-F5344CB8AC3E}">
        <p14:creationId xmlns:p14="http://schemas.microsoft.com/office/powerpoint/2010/main" val="2374183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AF028-05D1-1E5D-37CC-C97D7953D664}"/>
              </a:ext>
            </a:extLst>
          </p:cNvPr>
          <p:cNvSpPr>
            <a:spLocks noGrp="1"/>
          </p:cNvSpPr>
          <p:nvPr>
            <p:ph type="title"/>
          </p:nvPr>
        </p:nvSpPr>
        <p:spPr/>
        <p:txBody>
          <a:bodyPr/>
          <a:lstStyle/>
          <a:p>
            <a:r>
              <a:rPr lang="en-US" dirty="0"/>
              <a:t>Game Story/Scenario</a:t>
            </a:r>
          </a:p>
        </p:txBody>
      </p:sp>
      <p:sp>
        <p:nvSpPr>
          <p:cNvPr id="3" name="Content Placeholder 2">
            <a:extLst>
              <a:ext uri="{FF2B5EF4-FFF2-40B4-BE49-F238E27FC236}">
                <a16:creationId xmlns:a16="http://schemas.microsoft.com/office/drawing/2014/main" id="{675F57E2-369A-5F63-05A7-36BB9A3B3148}"/>
              </a:ext>
            </a:extLst>
          </p:cNvPr>
          <p:cNvSpPr>
            <a:spLocks noGrp="1"/>
          </p:cNvSpPr>
          <p:nvPr>
            <p:ph idx="1"/>
          </p:nvPr>
        </p:nvSpPr>
        <p:spPr/>
        <p:txBody>
          <a:bodyPr/>
          <a:lstStyle/>
          <a:p>
            <a:pPr marL="0" indent="0">
              <a:buNone/>
            </a:pPr>
            <a:r>
              <a:rPr lang="en-US" dirty="0"/>
              <a:t>Although the narrative is brief, it is indubitably emotionally resonant; its design frames the simple gameplay with a focusably complex set of feelings: those of sacrifice, consequence, and fragility.</a:t>
            </a:r>
          </a:p>
        </p:txBody>
      </p:sp>
    </p:spTree>
    <p:extLst>
      <p:ext uri="{BB962C8B-B14F-4D97-AF65-F5344CB8AC3E}">
        <p14:creationId xmlns:p14="http://schemas.microsoft.com/office/powerpoint/2010/main" val="2271865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643A2-72F4-9C6D-1FC1-4CE73992F327}"/>
              </a:ext>
            </a:extLst>
          </p:cNvPr>
          <p:cNvSpPr>
            <a:spLocks noGrp="1"/>
          </p:cNvSpPr>
          <p:nvPr>
            <p:ph type="title"/>
          </p:nvPr>
        </p:nvSpPr>
        <p:spPr/>
        <p:txBody>
          <a:bodyPr/>
          <a:lstStyle/>
          <a:p>
            <a:r>
              <a:rPr lang="en-US" dirty="0"/>
              <a:t>Core Gameplay Overview</a:t>
            </a:r>
          </a:p>
        </p:txBody>
      </p:sp>
      <p:sp>
        <p:nvSpPr>
          <p:cNvPr id="3" name="Content Placeholder 2">
            <a:extLst>
              <a:ext uri="{FF2B5EF4-FFF2-40B4-BE49-F238E27FC236}">
                <a16:creationId xmlns:a16="http://schemas.microsoft.com/office/drawing/2014/main" id="{DE224E96-6705-49D1-110B-B0A1472A5388}"/>
              </a:ext>
            </a:extLst>
          </p:cNvPr>
          <p:cNvSpPr>
            <a:spLocks noGrp="1"/>
          </p:cNvSpPr>
          <p:nvPr>
            <p:ph sz="half" idx="1"/>
          </p:nvPr>
        </p:nvSpPr>
        <p:spPr/>
        <p:txBody>
          <a:bodyPr/>
          <a:lstStyle/>
          <a:p>
            <a:pPr marL="457200" indent="-457200">
              <a:buFont typeface="+mj-lt"/>
              <a:buAutoNum type="arabicPeriod"/>
            </a:pPr>
            <a:r>
              <a:rPr lang="en-US" dirty="0"/>
              <a:t>Use tactical options</a:t>
            </a:r>
          </a:p>
          <a:p>
            <a:pPr marL="457200" indent="-457200">
              <a:buFont typeface="+mj-lt"/>
              <a:buAutoNum type="arabicPeriod"/>
            </a:pPr>
            <a:r>
              <a:rPr lang="en-US" dirty="0"/>
              <a:t>Flip cards</a:t>
            </a:r>
          </a:p>
          <a:p>
            <a:pPr marL="457200" indent="-457200">
              <a:buFont typeface="+mj-lt"/>
              <a:buAutoNum type="arabicPeriod"/>
            </a:pPr>
            <a:r>
              <a:rPr lang="en-US" dirty="0"/>
              <a:t>Higher card wins</a:t>
            </a:r>
          </a:p>
          <a:p>
            <a:pPr marL="457200" indent="-457200">
              <a:buFont typeface="+mj-lt"/>
              <a:buAutoNum type="arabicPeriod"/>
            </a:pPr>
            <a:r>
              <a:rPr lang="en-US" dirty="0"/>
              <a:t>Tie triggers timing game</a:t>
            </a:r>
          </a:p>
          <a:p>
            <a:pPr marL="457200" indent="-457200">
              <a:buFont typeface="+mj-lt"/>
              <a:buAutoNum type="arabicPeriod"/>
            </a:pPr>
            <a:r>
              <a:rPr lang="en-US" dirty="0"/>
              <a:t>Score updates</a:t>
            </a:r>
          </a:p>
          <a:p>
            <a:pPr marL="457200" indent="-457200">
              <a:buFont typeface="+mj-lt"/>
              <a:buAutoNum type="arabicPeriod"/>
            </a:pPr>
            <a:r>
              <a:rPr lang="en-US" dirty="0"/>
              <a:t>Game ends when decks empty</a:t>
            </a:r>
          </a:p>
        </p:txBody>
      </p:sp>
      <p:sp>
        <p:nvSpPr>
          <p:cNvPr id="4" name="Content Placeholder 3">
            <a:extLst>
              <a:ext uri="{FF2B5EF4-FFF2-40B4-BE49-F238E27FC236}">
                <a16:creationId xmlns:a16="http://schemas.microsoft.com/office/drawing/2014/main" id="{1E66BCE1-B97C-D8DF-3B53-9BAC7577798A}"/>
              </a:ext>
            </a:extLst>
          </p:cNvPr>
          <p:cNvSpPr>
            <a:spLocks noGrp="1"/>
          </p:cNvSpPr>
          <p:nvPr>
            <p:ph sz="half" idx="2"/>
          </p:nvPr>
        </p:nvSpPr>
        <p:spPr/>
        <p:txBody>
          <a:bodyPr/>
          <a:lstStyle/>
          <a:p>
            <a:pPr marL="0" indent="0">
              <a:buNone/>
            </a:pPr>
            <a:r>
              <a:rPr lang="en-US" dirty="0"/>
              <a:t>Each turn begins with optional actions: Peek, Swap, or Burn. After that, </a:t>
            </a:r>
            <a:r>
              <a:rPr lang="en-US"/>
              <a:t>both sides </a:t>
            </a:r>
            <a:r>
              <a:rPr lang="en-US" dirty="0"/>
              <a:t>flip their top card. If one is higher, the round ends normally. If it’s a tie, the timing mini-game appears, and whoever lands closer to the center wins the war. Scoring updates continuously until the deck runs out.</a:t>
            </a:r>
          </a:p>
        </p:txBody>
      </p:sp>
    </p:spTree>
    <p:extLst>
      <p:ext uri="{BB962C8B-B14F-4D97-AF65-F5344CB8AC3E}">
        <p14:creationId xmlns:p14="http://schemas.microsoft.com/office/powerpoint/2010/main" val="36534624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1D713-5A2B-13ED-3CB6-C87D8F4276AB}"/>
              </a:ext>
            </a:extLst>
          </p:cNvPr>
          <p:cNvSpPr>
            <a:spLocks noGrp="1"/>
          </p:cNvSpPr>
          <p:nvPr>
            <p:ph type="title"/>
          </p:nvPr>
        </p:nvSpPr>
        <p:spPr/>
        <p:txBody>
          <a:bodyPr/>
          <a:lstStyle/>
          <a:p>
            <a:r>
              <a:rPr lang="en-US" dirty="0"/>
              <a:t>Tactical Options</a:t>
            </a:r>
          </a:p>
        </p:txBody>
      </p:sp>
      <p:sp>
        <p:nvSpPr>
          <p:cNvPr id="3" name="Content Placeholder 2">
            <a:extLst>
              <a:ext uri="{FF2B5EF4-FFF2-40B4-BE49-F238E27FC236}">
                <a16:creationId xmlns:a16="http://schemas.microsoft.com/office/drawing/2014/main" id="{18E73A76-4D56-BC8F-7675-A254446C8D03}"/>
              </a:ext>
            </a:extLst>
          </p:cNvPr>
          <p:cNvSpPr>
            <a:spLocks noGrp="1"/>
          </p:cNvSpPr>
          <p:nvPr>
            <p:ph sz="half" idx="1"/>
          </p:nvPr>
        </p:nvSpPr>
        <p:spPr/>
        <p:txBody>
          <a:bodyPr/>
          <a:lstStyle/>
          <a:p>
            <a:r>
              <a:rPr lang="en-US" dirty="0"/>
              <a:t>Peek (-1 Option Point)</a:t>
            </a:r>
          </a:p>
          <a:p>
            <a:r>
              <a:rPr lang="en-US" dirty="0"/>
              <a:t>Swap (-2 Option Points)</a:t>
            </a:r>
          </a:p>
          <a:p>
            <a:r>
              <a:rPr lang="en-US" dirty="0"/>
              <a:t>Burn (-1 Option Point)</a:t>
            </a:r>
          </a:p>
          <a:p>
            <a:r>
              <a:rPr lang="en-US" dirty="0"/>
              <a:t>Earn Option Points via streaks and wars</a:t>
            </a:r>
          </a:p>
        </p:txBody>
      </p:sp>
      <p:sp>
        <p:nvSpPr>
          <p:cNvPr id="4" name="Content Placeholder 3">
            <a:extLst>
              <a:ext uri="{FF2B5EF4-FFF2-40B4-BE49-F238E27FC236}">
                <a16:creationId xmlns:a16="http://schemas.microsoft.com/office/drawing/2014/main" id="{790272D2-646C-FFDC-40B6-BB65CDB59C1E}"/>
              </a:ext>
            </a:extLst>
          </p:cNvPr>
          <p:cNvSpPr>
            <a:spLocks noGrp="1"/>
          </p:cNvSpPr>
          <p:nvPr>
            <p:ph sz="half" idx="2"/>
          </p:nvPr>
        </p:nvSpPr>
        <p:spPr/>
        <p:txBody>
          <a:bodyPr/>
          <a:lstStyle/>
          <a:p>
            <a:pPr marL="0" indent="0">
              <a:buNone/>
            </a:pPr>
            <a:r>
              <a:rPr lang="en-US" dirty="0"/>
              <a:t>These options push the game into puzzle territory. Peek reveals your next card, Swap rearranges your top two cards, and Burn moves your top card to the bottom. You start with three Option Points, and you earn more by winning wars or achieving streaks of three wins.</a:t>
            </a:r>
          </a:p>
        </p:txBody>
      </p:sp>
    </p:spTree>
    <p:extLst>
      <p:ext uri="{BB962C8B-B14F-4D97-AF65-F5344CB8AC3E}">
        <p14:creationId xmlns:p14="http://schemas.microsoft.com/office/powerpoint/2010/main" val="1756388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A8D68-1F4C-B28C-369D-CE2176EFCCC4}"/>
              </a:ext>
            </a:extLst>
          </p:cNvPr>
          <p:cNvSpPr>
            <a:spLocks noGrp="1"/>
          </p:cNvSpPr>
          <p:nvPr>
            <p:ph type="title"/>
          </p:nvPr>
        </p:nvSpPr>
        <p:spPr/>
        <p:txBody>
          <a:bodyPr/>
          <a:lstStyle/>
          <a:p>
            <a:r>
              <a:rPr lang="en-US" dirty="0"/>
              <a:t>Timing Mini-Game</a:t>
            </a:r>
          </a:p>
        </p:txBody>
      </p:sp>
      <p:sp>
        <p:nvSpPr>
          <p:cNvPr id="3" name="Content Placeholder 2">
            <a:extLst>
              <a:ext uri="{FF2B5EF4-FFF2-40B4-BE49-F238E27FC236}">
                <a16:creationId xmlns:a16="http://schemas.microsoft.com/office/drawing/2014/main" id="{120A94F9-E258-3D61-DE8D-AE401CFBCF70}"/>
              </a:ext>
            </a:extLst>
          </p:cNvPr>
          <p:cNvSpPr>
            <a:spLocks noGrp="1"/>
          </p:cNvSpPr>
          <p:nvPr>
            <p:ph sz="half" idx="1"/>
          </p:nvPr>
        </p:nvSpPr>
        <p:spPr/>
        <p:txBody>
          <a:bodyPr/>
          <a:lstStyle/>
          <a:p>
            <a:r>
              <a:rPr lang="en-US" dirty="0"/>
              <a:t>Fast-moving slider</a:t>
            </a:r>
          </a:p>
          <a:p>
            <a:r>
              <a:rPr lang="en-US" dirty="0"/>
              <a:t>Hit </a:t>
            </a:r>
            <a:r>
              <a:rPr lang="en-US" b="1" dirty="0"/>
              <a:t>Space</a:t>
            </a:r>
            <a:r>
              <a:rPr lang="en-US" dirty="0"/>
              <a:t> in the gold zone</a:t>
            </a:r>
          </a:p>
          <a:p>
            <a:r>
              <a:rPr lang="en-US" dirty="0"/>
              <a:t>AI gets randomized score</a:t>
            </a:r>
          </a:p>
          <a:p>
            <a:r>
              <a:rPr lang="en-US" dirty="0"/>
              <a:t>Determines “war” winner</a:t>
            </a:r>
          </a:p>
        </p:txBody>
      </p:sp>
      <p:sp>
        <p:nvSpPr>
          <p:cNvPr id="4" name="Content Placeholder 3">
            <a:extLst>
              <a:ext uri="{FF2B5EF4-FFF2-40B4-BE49-F238E27FC236}">
                <a16:creationId xmlns:a16="http://schemas.microsoft.com/office/drawing/2014/main" id="{4590E015-E348-68E8-2BDC-3EB6AA1E47EB}"/>
              </a:ext>
            </a:extLst>
          </p:cNvPr>
          <p:cNvSpPr>
            <a:spLocks noGrp="1"/>
          </p:cNvSpPr>
          <p:nvPr>
            <p:ph sz="half" idx="2"/>
          </p:nvPr>
        </p:nvSpPr>
        <p:spPr/>
        <p:txBody>
          <a:bodyPr/>
          <a:lstStyle/>
          <a:p>
            <a:pPr marL="0" indent="0">
              <a:buNone/>
            </a:pPr>
            <a:r>
              <a:rPr lang="en-US" dirty="0"/>
              <a:t>Ties bring the action element into the game. The slider moves quickly across the bar, and the player presses </a:t>
            </a:r>
            <a:r>
              <a:rPr lang="en-US" b="1" dirty="0"/>
              <a:t>Space</a:t>
            </a:r>
            <a:r>
              <a:rPr lang="en-US" dirty="0"/>
              <a:t> as close as possible to the gold zone. The AI gets a randomized precision score. This element breaks the monotony of card flipping and  introduces moments of skill-based tension.</a:t>
            </a:r>
          </a:p>
        </p:txBody>
      </p:sp>
    </p:spTree>
    <p:extLst>
      <p:ext uri="{BB962C8B-B14F-4D97-AF65-F5344CB8AC3E}">
        <p14:creationId xmlns:p14="http://schemas.microsoft.com/office/powerpoint/2010/main" val="2813515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03E98-D8FC-6525-8180-9B1175703A50}"/>
              </a:ext>
            </a:extLst>
          </p:cNvPr>
          <p:cNvSpPr>
            <a:spLocks noGrp="1"/>
          </p:cNvSpPr>
          <p:nvPr>
            <p:ph type="title"/>
          </p:nvPr>
        </p:nvSpPr>
        <p:spPr/>
        <p:txBody>
          <a:bodyPr/>
          <a:lstStyle/>
          <a:p>
            <a:r>
              <a:rPr lang="en-US" dirty="0"/>
              <a:t>Scoring System</a:t>
            </a:r>
          </a:p>
        </p:txBody>
      </p:sp>
      <p:sp>
        <p:nvSpPr>
          <p:cNvPr id="3" name="Content Placeholder 2">
            <a:extLst>
              <a:ext uri="{FF2B5EF4-FFF2-40B4-BE49-F238E27FC236}">
                <a16:creationId xmlns:a16="http://schemas.microsoft.com/office/drawing/2014/main" id="{190C8A2C-B55A-A770-0833-0E014F986DB6}"/>
              </a:ext>
            </a:extLst>
          </p:cNvPr>
          <p:cNvSpPr>
            <a:spLocks noGrp="1"/>
          </p:cNvSpPr>
          <p:nvPr>
            <p:ph sz="half" idx="1"/>
          </p:nvPr>
        </p:nvSpPr>
        <p:spPr/>
        <p:txBody>
          <a:bodyPr/>
          <a:lstStyle/>
          <a:p>
            <a:r>
              <a:rPr lang="en-US" dirty="0"/>
              <a:t>Win: +10</a:t>
            </a:r>
          </a:p>
          <a:p>
            <a:r>
              <a:rPr lang="en-US" dirty="0"/>
              <a:t>Lose: -2 (min 0)</a:t>
            </a:r>
          </a:p>
          <a:p>
            <a:r>
              <a:rPr lang="en-US" dirty="0"/>
              <a:t>Win war: +10 +1 OP</a:t>
            </a:r>
          </a:p>
          <a:p>
            <a:r>
              <a:rPr lang="en-US" dirty="0"/>
              <a:t>Final Score = Score + (OP * 5)</a:t>
            </a:r>
          </a:p>
        </p:txBody>
      </p:sp>
      <p:sp>
        <p:nvSpPr>
          <p:cNvPr id="4" name="Content Placeholder 3">
            <a:extLst>
              <a:ext uri="{FF2B5EF4-FFF2-40B4-BE49-F238E27FC236}">
                <a16:creationId xmlns:a16="http://schemas.microsoft.com/office/drawing/2014/main" id="{D1007CFF-A42E-9243-4CAF-3CEF2FCE9631}"/>
              </a:ext>
            </a:extLst>
          </p:cNvPr>
          <p:cNvSpPr>
            <a:spLocks noGrp="1"/>
          </p:cNvSpPr>
          <p:nvPr>
            <p:ph sz="half" idx="2"/>
          </p:nvPr>
        </p:nvSpPr>
        <p:spPr/>
        <p:txBody>
          <a:bodyPr/>
          <a:lstStyle/>
          <a:p>
            <a:pPr marL="0" indent="0">
              <a:buNone/>
            </a:pPr>
            <a:r>
              <a:rPr lang="en-US" dirty="0"/>
              <a:t>The scoring system keeps the game goal-oriented. Winning around yields 10 points. Losing deducts 2, but never below zero. Winning a war yields 10 points and an Option Point. At the end, leftover Option Points act as a bonus multiplier.</a:t>
            </a:r>
          </a:p>
        </p:txBody>
      </p:sp>
    </p:spTree>
    <p:extLst>
      <p:ext uri="{BB962C8B-B14F-4D97-AF65-F5344CB8AC3E}">
        <p14:creationId xmlns:p14="http://schemas.microsoft.com/office/powerpoint/2010/main" val="3773147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77844-768A-16B3-F853-FC343E6F58AE}"/>
              </a:ext>
            </a:extLst>
          </p:cNvPr>
          <p:cNvSpPr>
            <a:spLocks noGrp="1"/>
          </p:cNvSpPr>
          <p:nvPr>
            <p:ph type="title"/>
          </p:nvPr>
        </p:nvSpPr>
        <p:spPr/>
        <p:txBody>
          <a:bodyPr/>
          <a:lstStyle/>
          <a:p>
            <a:r>
              <a:rPr lang="en-US" dirty="0"/>
              <a:t>Things We Would Add</a:t>
            </a:r>
          </a:p>
        </p:txBody>
      </p:sp>
      <p:sp>
        <p:nvSpPr>
          <p:cNvPr id="3" name="Content Placeholder 2">
            <a:extLst>
              <a:ext uri="{FF2B5EF4-FFF2-40B4-BE49-F238E27FC236}">
                <a16:creationId xmlns:a16="http://schemas.microsoft.com/office/drawing/2014/main" id="{82781FFB-E9DE-79AF-3C85-ED7D7FB35369}"/>
              </a:ext>
            </a:extLst>
          </p:cNvPr>
          <p:cNvSpPr>
            <a:spLocks noGrp="1"/>
          </p:cNvSpPr>
          <p:nvPr>
            <p:ph sz="half" idx="1"/>
          </p:nvPr>
        </p:nvSpPr>
        <p:spPr/>
        <p:txBody>
          <a:bodyPr/>
          <a:lstStyle/>
          <a:p>
            <a:r>
              <a:rPr lang="en-US" dirty="0"/>
              <a:t>Deck count display</a:t>
            </a:r>
          </a:p>
          <a:p>
            <a:r>
              <a:rPr lang="en-US" dirty="0"/>
              <a:t>More narrative integration</a:t>
            </a:r>
          </a:p>
          <a:p>
            <a:r>
              <a:rPr lang="en-US" dirty="0"/>
              <a:t>Animations and polish</a:t>
            </a:r>
          </a:p>
          <a:p>
            <a:r>
              <a:rPr lang="en-US" dirty="0"/>
              <a:t>Expanded soundscape</a:t>
            </a:r>
          </a:p>
        </p:txBody>
      </p:sp>
      <p:sp>
        <p:nvSpPr>
          <p:cNvPr id="4" name="Content Placeholder 3">
            <a:extLst>
              <a:ext uri="{FF2B5EF4-FFF2-40B4-BE49-F238E27FC236}">
                <a16:creationId xmlns:a16="http://schemas.microsoft.com/office/drawing/2014/main" id="{0040CE27-D241-AD96-D0B6-41A9E98F0B42}"/>
              </a:ext>
            </a:extLst>
          </p:cNvPr>
          <p:cNvSpPr>
            <a:spLocks noGrp="1"/>
          </p:cNvSpPr>
          <p:nvPr>
            <p:ph sz="half" idx="2"/>
          </p:nvPr>
        </p:nvSpPr>
        <p:spPr/>
        <p:txBody>
          <a:bodyPr/>
          <a:lstStyle/>
          <a:p>
            <a:pPr marL="0" indent="0">
              <a:buNone/>
            </a:pPr>
            <a:r>
              <a:rPr lang="en-US" dirty="0"/>
              <a:t>With more time and experience, we would have added a deck counter, more narrative cues, visual polish like animations, and a fuller soundscape. These additions would help reinforce the game’s emotional arc and improve usability. </a:t>
            </a:r>
          </a:p>
        </p:txBody>
      </p:sp>
    </p:spTree>
    <p:extLst>
      <p:ext uri="{BB962C8B-B14F-4D97-AF65-F5344CB8AC3E}">
        <p14:creationId xmlns:p14="http://schemas.microsoft.com/office/powerpoint/2010/main" val="1034945556"/>
      </p:ext>
    </p:extLst>
  </p:cSld>
  <p:clrMapOvr>
    <a:masterClrMapping/>
  </p:clrMapOvr>
</p:sld>
</file>

<file path=ppt/theme/theme1.xml><?xml version="1.0" encoding="utf-8"?>
<a:theme xmlns:a="http://schemas.openxmlformats.org/drawingml/2006/main" name="Berlin">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Berlin</Template>
  <TotalTime>99</TotalTime>
  <Words>844</Words>
  <Application>Microsoft Macintosh PowerPoint</Application>
  <PresentationFormat>Widescreen</PresentationFormat>
  <Paragraphs>64</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Trebuchet MS</vt:lpstr>
      <vt:lpstr>Berlin</vt:lpstr>
      <vt:lpstr>Card Colosseum: War</vt:lpstr>
      <vt:lpstr>Why We Chose War</vt:lpstr>
      <vt:lpstr>Why We Chose War</vt:lpstr>
      <vt:lpstr>Basics of War</vt:lpstr>
      <vt:lpstr>What Makes Our Game Unique</vt:lpstr>
      <vt:lpstr>Game Story/Scenario</vt:lpstr>
      <vt:lpstr>Game Story/Scenario</vt:lpstr>
      <vt:lpstr>Game Story/Scenario</vt:lpstr>
      <vt:lpstr>Game Story/Scenario</vt:lpstr>
      <vt:lpstr>Game Story/Scenario</vt:lpstr>
      <vt:lpstr>Core Gameplay Overview</vt:lpstr>
      <vt:lpstr>Tactical Options</vt:lpstr>
      <vt:lpstr>Timing Mini-Game</vt:lpstr>
      <vt:lpstr>Scoring System</vt:lpstr>
      <vt:lpstr>Things We Would Add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Azaria Reed</dc:creator>
  <cp:lastModifiedBy>Azaria Reed</cp:lastModifiedBy>
  <cp:revision>3</cp:revision>
  <dcterms:created xsi:type="dcterms:W3CDTF">2025-11-30T08:46:13Z</dcterms:created>
  <dcterms:modified xsi:type="dcterms:W3CDTF">2025-11-30T10:30:38Z</dcterms:modified>
</cp:coreProperties>
</file>