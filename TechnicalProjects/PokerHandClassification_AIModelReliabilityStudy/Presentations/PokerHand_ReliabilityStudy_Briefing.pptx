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92"/>
  </p:normalViewPr>
  <p:slideViewPr>
    <p:cSldViewPr snapToGrid="0">
      <p:cViewPr varScale="1">
        <p:scale>
          <a:sx n="102" d="100"/>
          <a:sy n="102" d="100"/>
        </p:scale>
        <p:origin x="6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4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02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51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8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6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0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32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45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297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6" r:id="rId6"/>
    <p:sldLayoutId id="2147483761" r:id="rId7"/>
    <p:sldLayoutId id="2147483762" r:id="rId8"/>
    <p:sldLayoutId id="2147483763" r:id="rId9"/>
    <p:sldLayoutId id="2147483765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37AEC-886C-B9D1-7469-512F5B6B5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480" y="1523955"/>
            <a:ext cx="5431536" cy="22860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Poker Hand Classification Using Machine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1B970C-0D4B-E6AA-AFE9-8987541CF3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5"/>
          <a:stretch>
            <a:fillRect/>
          </a:stretch>
        </p:blipFill>
        <p:spPr>
          <a:xfrm>
            <a:off x="-8" y="762006"/>
            <a:ext cx="5948805" cy="6095979"/>
          </a:xfrm>
          <a:custGeom>
            <a:avLst/>
            <a:gdLst/>
            <a:ahLst/>
            <a:cxnLst/>
            <a:rect l="l" t="t" r="r" b="b"/>
            <a:pathLst>
              <a:path w="5948805" h="6095979">
                <a:moveTo>
                  <a:pt x="1573832" y="765"/>
                </a:moveTo>
                <a:cubicBezTo>
                  <a:pt x="1940190" y="-10734"/>
                  <a:pt x="2329345" y="109280"/>
                  <a:pt x="2734663" y="238687"/>
                </a:cubicBezTo>
                <a:cubicBezTo>
                  <a:pt x="4118244" y="680647"/>
                  <a:pt x="5296697" y="1302752"/>
                  <a:pt x="5668316" y="3639516"/>
                </a:cubicBezTo>
                <a:cubicBezTo>
                  <a:pt x="5788298" y="4393559"/>
                  <a:pt x="5890546" y="5142244"/>
                  <a:pt x="5937022" y="5865869"/>
                </a:cubicBezTo>
                <a:lnTo>
                  <a:pt x="5948805" y="6095979"/>
                </a:lnTo>
                <a:lnTo>
                  <a:pt x="0" y="6095979"/>
                </a:lnTo>
                <a:lnTo>
                  <a:pt x="0" y="1621672"/>
                </a:lnTo>
                <a:lnTo>
                  <a:pt x="36310" y="1518814"/>
                </a:lnTo>
                <a:cubicBezTo>
                  <a:pt x="109805" y="1321982"/>
                  <a:pt x="192755" y="1133640"/>
                  <a:pt x="287891" y="956872"/>
                </a:cubicBezTo>
                <a:cubicBezTo>
                  <a:pt x="669453" y="247734"/>
                  <a:pt x="1102800" y="15549"/>
                  <a:pt x="1573832" y="765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47DB6CD-8E9E-4643-B3B6-01BD80429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4D438D6-8600-B0F6-CA31-58ED2B345791}"/>
              </a:ext>
            </a:extLst>
          </p:cNvPr>
          <p:cNvSpPr txBox="1">
            <a:spLocks/>
          </p:cNvSpPr>
          <p:nvPr/>
        </p:nvSpPr>
        <p:spPr>
          <a:xfrm>
            <a:off x="6427480" y="3809970"/>
            <a:ext cx="5431536" cy="373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/>
              <a:t>A Comparative Study of Feature Methods and Models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66526E1-C1BF-4436-B75B-69C9ED9FCC59}"/>
              </a:ext>
            </a:extLst>
          </p:cNvPr>
          <p:cNvSpPr txBox="1">
            <a:spLocks/>
          </p:cNvSpPr>
          <p:nvPr/>
        </p:nvSpPr>
        <p:spPr>
          <a:xfrm>
            <a:off x="6427480" y="4183693"/>
            <a:ext cx="5431536" cy="373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/>
              <a:t>Camerin Casesa, Lily Lockwood, Azaria Reed, Diana De Santiago</a:t>
            </a:r>
            <a:endParaRPr lang="en-US" sz="90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A01CAF8-B5C7-9BF5-B79C-8B558BBBB3C6}"/>
              </a:ext>
            </a:extLst>
          </p:cNvPr>
          <p:cNvSpPr txBox="1">
            <a:spLocks/>
          </p:cNvSpPr>
          <p:nvPr/>
        </p:nvSpPr>
        <p:spPr>
          <a:xfrm>
            <a:off x="6760464" y="6108200"/>
            <a:ext cx="5431536" cy="749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/>
              <a:t>CS 488-01: Intro to Big Data Computing</a:t>
            </a:r>
          </a:p>
          <a:p>
            <a:pPr algn="r"/>
            <a:r>
              <a:rPr lang="en-US" sz="1400" dirty="0"/>
              <a:t>Dr. Vineetha Menon</a:t>
            </a:r>
          </a:p>
        </p:txBody>
      </p:sp>
    </p:spTree>
    <p:extLst>
      <p:ext uri="{BB962C8B-B14F-4D97-AF65-F5344CB8AC3E}">
        <p14:creationId xmlns:p14="http://schemas.microsoft.com/office/powerpoint/2010/main" val="174473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AA4F-B571-0CFB-F641-638038F7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51E8-645C-237E-2AA9-247098FE2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Big Data Context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3CBB4D-7EFA-FB6E-3043-B90CB2B3E97F}"/>
              </a:ext>
            </a:extLst>
          </p:cNvPr>
          <p:cNvGrpSpPr/>
          <p:nvPr/>
        </p:nvGrpSpPr>
        <p:grpSpPr>
          <a:xfrm>
            <a:off x="765047" y="2282952"/>
            <a:ext cx="5148072" cy="3813048"/>
            <a:chOff x="765047" y="2282952"/>
            <a:chExt cx="5148072" cy="381304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22955D-E9EA-03E9-FDC3-E1764DD2BD3E}"/>
                </a:ext>
              </a:extLst>
            </p:cNvPr>
            <p:cNvSpPr txBox="1"/>
            <p:nvPr/>
          </p:nvSpPr>
          <p:spPr>
            <a:xfrm>
              <a:off x="765047" y="2282952"/>
              <a:ext cx="5148072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EFD6F5-A292-3D0F-D889-B766C8766F02}"/>
                </a:ext>
              </a:extLst>
            </p:cNvPr>
            <p:cNvSpPr txBox="1">
              <a:spLocks/>
            </p:cNvSpPr>
            <p:nvPr/>
          </p:nvSpPr>
          <p:spPr>
            <a:xfrm>
              <a:off x="822961" y="3349458"/>
              <a:ext cx="5029200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Volume: many </a:t>
              </a:r>
              <a:r>
                <a:rPr lang="en-US" b="1" dirty="0"/>
                <a:t>combinations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Velocity: </a:t>
              </a:r>
              <a:r>
                <a:rPr lang="en-US" b="1" dirty="0"/>
                <a:t>real-time</a:t>
              </a:r>
              <a:r>
                <a:rPr lang="en-US" dirty="0"/>
                <a:t> potential</a:t>
              </a:r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Variety: mixed </a:t>
              </a:r>
              <a:r>
                <a:rPr lang="en-US" b="1" dirty="0"/>
                <a:t>feature types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Veracity: </a:t>
              </a:r>
              <a:r>
                <a:rPr lang="en-US" b="1" dirty="0"/>
                <a:t>structured data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Value: strong </a:t>
              </a:r>
              <a:r>
                <a:rPr lang="en-US" b="1" dirty="0"/>
                <a:t>benchmark</a:t>
              </a:r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1A335-0A3C-F254-98B3-185D2AC98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5V Model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E2738EF-B46D-BD73-A11F-3A49C72FF72E}"/>
              </a:ext>
            </a:extLst>
          </p:cNvPr>
          <p:cNvGrpSpPr/>
          <p:nvPr/>
        </p:nvGrpSpPr>
        <p:grpSpPr>
          <a:xfrm>
            <a:off x="6280403" y="2282952"/>
            <a:ext cx="5148072" cy="3813048"/>
            <a:chOff x="6280403" y="2282952"/>
            <a:chExt cx="5148072" cy="381304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BF0C4C-37B4-58E7-0503-3DBC7A3AFD51}"/>
                </a:ext>
              </a:extLst>
            </p:cNvPr>
            <p:cNvSpPr txBox="1"/>
            <p:nvPr/>
          </p:nvSpPr>
          <p:spPr>
            <a:xfrm>
              <a:off x="6280403" y="2282952"/>
              <a:ext cx="5148072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1D63E6-8415-8D7C-4A9A-6D2396A6C8B3}"/>
                </a:ext>
              </a:extLst>
            </p:cNvPr>
            <p:cNvSpPr txBox="1"/>
            <p:nvPr/>
          </p:nvSpPr>
          <p:spPr>
            <a:xfrm>
              <a:off x="6339839" y="3349458"/>
              <a:ext cx="50292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Structure &gt; size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Relationships drive accuracy</a:t>
              </a:r>
            </a:p>
          </p:txBody>
        </p: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3769E6-4C48-C70A-D204-D312AAEFB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Implication</a:t>
            </a:r>
          </a:p>
        </p:txBody>
      </p:sp>
    </p:spTree>
    <p:extLst>
      <p:ext uri="{BB962C8B-B14F-4D97-AF65-F5344CB8AC3E}">
        <p14:creationId xmlns:p14="http://schemas.microsoft.com/office/powerpoint/2010/main" val="76492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B200-D8EF-780B-AF22-D93FC489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Defining the Problem Space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47CC250-45B0-1B3E-BF9A-D6CD727C4D3C}"/>
              </a:ext>
            </a:extLst>
          </p:cNvPr>
          <p:cNvGrpSpPr/>
          <p:nvPr/>
        </p:nvGrpSpPr>
        <p:grpSpPr>
          <a:xfrm>
            <a:off x="765047" y="2282952"/>
            <a:ext cx="5148072" cy="3813048"/>
            <a:chOff x="765047" y="2282952"/>
            <a:chExt cx="5148072" cy="381304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1292BE-FB01-C71F-62BB-5CB0D428D3D8}"/>
                </a:ext>
              </a:extLst>
            </p:cNvPr>
            <p:cNvSpPr txBox="1"/>
            <p:nvPr/>
          </p:nvSpPr>
          <p:spPr>
            <a:xfrm>
              <a:off x="765047" y="2282952"/>
              <a:ext cx="5148072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B85B9C-F17B-4A9B-2A16-179E0C9887DC}"/>
                </a:ext>
              </a:extLst>
            </p:cNvPr>
            <p:cNvSpPr txBox="1">
              <a:spLocks/>
            </p:cNvSpPr>
            <p:nvPr/>
          </p:nvSpPr>
          <p:spPr>
            <a:xfrm>
              <a:off x="822961" y="3349458"/>
              <a:ext cx="50292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Classify </a:t>
              </a:r>
              <a:r>
                <a:rPr lang="en-US" b="1" dirty="0"/>
                <a:t>5-card hands</a:t>
              </a:r>
              <a:r>
                <a:rPr lang="en-US" dirty="0"/>
                <a:t> into </a:t>
              </a:r>
              <a:r>
                <a:rPr lang="en-US" b="1" dirty="0"/>
                <a:t>10 categories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Features: </a:t>
              </a:r>
              <a:r>
                <a:rPr lang="en-US" b="1" dirty="0"/>
                <a:t>suit + rank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Values are </a:t>
              </a:r>
              <a:r>
                <a:rPr lang="en-US" b="1" dirty="0"/>
                <a:t>categorical</a:t>
              </a:r>
              <a:r>
                <a:rPr lang="en-US" dirty="0"/>
                <a:t>, not numeric</a:t>
              </a:r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6C2E27-CE47-2E11-A73F-14E350C39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Problem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12009D4-2E71-3216-0AE1-5D4ADB881C19}"/>
              </a:ext>
            </a:extLst>
          </p:cNvPr>
          <p:cNvGrpSpPr/>
          <p:nvPr/>
        </p:nvGrpSpPr>
        <p:grpSpPr>
          <a:xfrm>
            <a:off x="6280403" y="2282952"/>
            <a:ext cx="5148072" cy="3813048"/>
            <a:chOff x="6280403" y="2282952"/>
            <a:chExt cx="5148072" cy="381304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88DC53-890A-C0D6-9AAE-092C189C3697}"/>
                </a:ext>
              </a:extLst>
            </p:cNvPr>
            <p:cNvSpPr txBox="1"/>
            <p:nvPr/>
          </p:nvSpPr>
          <p:spPr>
            <a:xfrm>
              <a:off x="6280403" y="2282952"/>
              <a:ext cx="5148072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B22D88-9235-41B9-66F9-5C79A4495ED3}"/>
                </a:ext>
              </a:extLst>
            </p:cNvPr>
            <p:cNvSpPr txBox="1"/>
            <p:nvPr/>
          </p:nvSpPr>
          <p:spPr>
            <a:xfrm>
              <a:off x="6339839" y="3345285"/>
              <a:ext cx="50292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Strong </a:t>
              </a:r>
              <a:r>
                <a:rPr lang="en-US" b="1" dirty="0"/>
                <a:t>feature interactions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Nonlinear patterns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Class imbalance</a:t>
              </a:r>
            </a:p>
          </p:txBody>
        </p: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9539AB-B02A-C399-2EFB-7E0948CF6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Challenge</a:t>
            </a:r>
          </a:p>
        </p:txBody>
      </p:sp>
    </p:spTree>
    <p:extLst>
      <p:ext uri="{BB962C8B-B14F-4D97-AF65-F5344CB8AC3E}">
        <p14:creationId xmlns:p14="http://schemas.microsoft.com/office/powerpoint/2010/main" val="185842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D2EE43-79C7-BB3A-0761-65C1B50EC44A}"/>
              </a:ext>
            </a:extLst>
          </p:cNvPr>
          <p:cNvSpPr txBox="1"/>
          <p:nvPr/>
        </p:nvSpPr>
        <p:spPr>
          <a:xfrm>
            <a:off x="758952" y="763987"/>
            <a:ext cx="10671048" cy="5340096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9B08D-82AC-DE5E-9EA9-5926576524F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en-US" b="1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87296-19F6-D140-CB79-DE5A22954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10668000" cy="3054096"/>
          </a:xfrm>
          <a:ln>
            <a:noFill/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dirty="0"/>
              <a:t>If statistical and machine learning techniques analyze card combinations, then they can accurately classify poker hands, because the frequency and structure of card ranks and suits follow consistent probabilistic patterns. </a:t>
            </a:r>
          </a:p>
        </p:txBody>
      </p:sp>
    </p:spTree>
    <p:extLst>
      <p:ext uri="{BB962C8B-B14F-4D97-AF65-F5344CB8AC3E}">
        <p14:creationId xmlns:p14="http://schemas.microsoft.com/office/powerpoint/2010/main" val="253761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59CD9-CC42-B967-DAE5-DB79ADE85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C9E9-B988-4BB4-475F-DDD0834C5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Feature and Modeling Techniques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531A68-9770-16AD-F4FC-922A7EC8DB0F}"/>
              </a:ext>
            </a:extLst>
          </p:cNvPr>
          <p:cNvGrpSpPr/>
          <p:nvPr/>
        </p:nvGrpSpPr>
        <p:grpSpPr>
          <a:xfrm>
            <a:off x="765047" y="2282952"/>
            <a:ext cx="3429000" cy="3813048"/>
            <a:chOff x="765047" y="2282952"/>
            <a:chExt cx="3429000" cy="381304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B34ECC-2763-DD54-D70D-2A9F80C22F99}"/>
                </a:ext>
              </a:extLst>
            </p:cNvPr>
            <p:cNvSpPr txBox="1"/>
            <p:nvPr/>
          </p:nvSpPr>
          <p:spPr>
            <a:xfrm>
              <a:off x="765047" y="2282952"/>
              <a:ext cx="3429000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14082D-8A78-FB8C-A709-C029E1B7614C}"/>
                </a:ext>
              </a:extLst>
            </p:cNvPr>
            <p:cNvSpPr txBox="1">
              <a:spLocks/>
            </p:cNvSpPr>
            <p:nvPr/>
          </p:nvSpPr>
          <p:spPr>
            <a:xfrm>
              <a:off x="821436" y="3429000"/>
              <a:ext cx="331012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Train/test split (</a:t>
              </a:r>
              <a:r>
                <a:rPr lang="en-US" b="1" dirty="0"/>
                <a:t>80/20</a:t>
              </a:r>
              <a:r>
                <a:rPr lang="en-US" dirty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SMOTE</a:t>
              </a:r>
              <a:r>
                <a:rPr lang="en-US" dirty="0"/>
                <a:t> (train only)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Scaling</a:t>
              </a:r>
              <a:r>
                <a:rPr lang="en-US" dirty="0"/>
                <a:t> (fit on train)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Prevent </a:t>
              </a:r>
              <a:r>
                <a:rPr lang="en-US" b="1" dirty="0"/>
                <a:t>data leakage</a:t>
              </a:r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B9FE5-D787-8015-33B8-42C4BE6ED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3429000" cy="75895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Data Pipeline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C1913B5-8036-3C0B-7349-0067C0326E30}"/>
              </a:ext>
            </a:extLst>
          </p:cNvPr>
          <p:cNvGrpSpPr/>
          <p:nvPr/>
        </p:nvGrpSpPr>
        <p:grpSpPr>
          <a:xfrm>
            <a:off x="7997953" y="2282952"/>
            <a:ext cx="3429000" cy="3813048"/>
            <a:chOff x="7997953" y="2282952"/>
            <a:chExt cx="3429000" cy="38130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2203A3-775A-8F05-EBEC-655C022D4CA9}"/>
                </a:ext>
              </a:extLst>
            </p:cNvPr>
            <p:cNvSpPr txBox="1"/>
            <p:nvPr/>
          </p:nvSpPr>
          <p:spPr>
            <a:xfrm>
              <a:off x="7997953" y="2282952"/>
              <a:ext cx="3429000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B1D7FF-ED5C-6846-3FB4-5F6F2434DB1D}"/>
                </a:ext>
              </a:extLst>
            </p:cNvPr>
            <p:cNvSpPr txBox="1">
              <a:spLocks/>
            </p:cNvSpPr>
            <p:nvPr/>
          </p:nvSpPr>
          <p:spPr>
            <a:xfrm>
              <a:off x="8054342" y="3429000"/>
              <a:ext cx="3310128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Linear SVM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RBF SVM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Random Forest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XGBoost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Nonlinear models </a:t>
              </a:r>
              <a:r>
                <a:rPr lang="en-US" dirty="0"/>
                <a:t>perform better</a:t>
              </a:r>
            </a:p>
          </p:txBody>
        </p:sp>
      </p:grp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987CE3-8C01-3AAD-1B00-EB8EBB646A54}"/>
              </a:ext>
            </a:extLst>
          </p:cNvPr>
          <p:cNvSpPr txBox="1">
            <a:spLocks/>
          </p:cNvSpPr>
          <p:nvPr/>
        </p:nvSpPr>
        <p:spPr>
          <a:xfrm>
            <a:off x="7994906" y="2285999"/>
            <a:ext cx="3429000" cy="75895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Model Selection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F486B48-B41F-618C-9EC0-88519C5E0EB5}"/>
              </a:ext>
            </a:extLst>
          </p:cNvPr>
          <p:cNvGrpSpPr/>
          <p:nvPr/>
        </p:nvGrpSpPr>
        <p:grpSpPr>
          <a:xfrm>
            <a:off x="4381500" y="2282952"/>
            <a:ext cx="3429000" cy="3813048"/>
            <a:chOff x="4381500" y="2282952"/>
            <a:chExt cx="3429000" cy="381304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91B982-5310-5B2A-FCED-7588AC3C4137}"/>
                </a:ext>
              </a:extLst>
            </p:cNvPr>
            <p:cNvSpPr txBox="1"/>
            <p:nvPr/>
          </p:nvSpPr>
          <p:spPr>
            <a:xfrm>
              <a:off x="4381500" y="2282952"/>
              <a:ext cx="3429000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BC3E3A-EB14-B2A4-A99A-EAB850CE8D4A}"/>
                </a:ext>
              </a:extLst>
            </p:cNvPr>
            <p:cNvSpPr txBox="1">
              <a:spLocks/>
            </p:cNvSpPr>
            <p:nvPr/>
          </p:nvSpPr>
          <p:spPr>
            <a:xfrm>
              <a:off x="4437889" y="3429000"/>
              <a:ext cx="3310128" cy="203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Domain features: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Unique rank count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Rank range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One-hot encoding</a:t>
              </a:r>
              <a:r>
                <a:rPr lang="en-US" dirty="0"/>
                <a:t> → categorical clarity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LDA</a:t>
              </a:r>
              <a:r>
                <a:rPr lang="en-US" dirty="0"/>
                <a:t> → dimensional reduction</a:t>
              </a:r>
            </a:p>
          </p:txBody>
        </p:sp>
      </p:grp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CC98DF7-C295-364D-7603-6B756FFBD29E}"/>
              </a:ext>
            </a:extLst>
          </p:cNvPr>
          <p:cNvSpPr txBox="1">
            <a:spLocks/>
          </p:cNvSpPr>
          <p:nvPr/>
        </p:nvSpPr>
        <p:spPr>
          <a:xfrm>
            <a:off x="4378453" y="2285999"/>
            <a:ext cx="3429000" cy="75895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Feature Methods</a:t>
            </a:r>
          </a:p>
        </p:txBody>
      </p:sp>
    </p:spTree>
    <p:extLst>
      <p:ext uri="{BB962C8B-B14F-4D97-AF65-F5344CB8AC3E}">
        <p14:creationId xmlns:p14="http://schemas.microsoft.com/office/powerpoint/2010/main" val="2803294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9EDA7-CC95-8D2D-2E0F-E9BE7E67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4B92-A699-619F-33EF-28A674A4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Class Imbalance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9928B-677E-69C7-A105-9699BE64A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Before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CBFB70-1EC2-CE79-0D09-C1FCF6AB0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After SMOTE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24360-4BF0-35FA-1B08-891137320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228"/>
          <a:stretch>
            <a:fillRect/>
          </a:stretch>
        </p:blipFill>
        <p:spPr>
          <a:xfrm>
            <a:off x="762000" y="3141250"/>
            <a:ext cx="5148072" cy="23622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22605D-983B-9049-7DB4-69ABB65EEA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28"/>
          <a:stretch>
            <a:fillRect/>
          </a:stretch>
        </p:blipFill>
        <p:spPr>
          <a:xfrm>
            <a:off x="6278878" y="3141250"/>
            <a:ext cx="5148072" cy="236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68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A55A76-6754-7BAE-471D-B6C085755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762000"/>
            <a:ext cx="3809999" cy="5334000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D56FCC-B34B-BE36-3125-95D932DC19A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b="1" dirty="0"/>
              <a:t>Feature Relationships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53F7E5-8EAA-42CB-0904-B443C494B5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23"/>
          <a:stretch>
            <a:fillRect/>
          </a:stretch>
        </p:blipFill>
        <p:spPr>
          <a:xfrm>
            <a:off x="4964584" y="761999"/>
            <a:ext cx="6760220" cy="5330952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</p:pic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27DC0EC-E5AC-9370-D2DD-562C1128836B}"/>
              </a:ext>
            </a:extLst>
          </p:cNvPr>
          <p:cNvSpPr txBox="1">
            <a:spLocks/>
          </p:cNvSpPr>
          <p:nvPr/>
        </p:nvSpPr>
        <p:spPr>
          <a:xfrm>
            <a:off x="819912" y="2286000"/>
            <a:ext cx="3694176" cy="30540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Weak </a:t>
            </a:r>
            <a:r>
              <a:rPr lang="en-US" sz="1800" b="1" dirty="0"/>
              <a:t>correlations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No dominant feature</a:t>
            </a:r>
          </a:p>
        </p:txBody>
      </p:sp>
    </p:spTree>
    <p:extLst>
      <p:ext uri="{BB962C8B-B14F-4D97-AF65-F5344CB8AC3E}">
        <p14:creationId xmlns:p14="http://schemas.microsoft.com/office/powerpoint/2010/main" val="2206790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EE28-A520-E6A3-CFAE-640B8023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8268-F14B-8D5D-FB8E-0937E3C3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12299"/>
            <a:ext cx="10668000" cy="1524000"/>
          </a:xfrm>
        </p:spPr>
        <p:txBody>
          <a:bodyPr/>
          <a:lstStyle/>
          <a:p>
            <a:pPr algn="ctr"/>
            <a:r>
              <a:rPr lang="en-US" b="1" dirty="0"/>
              <a:t>Feature Space Comparison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72F6C-4477-917A-561F-D8579D870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36298"/>
            <a:ext cx="5151119" cy="76199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LDA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7AF234-FC16-AC9B-EEAD-6E2C132E6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1836299"/>
            <a:ext cx="5151122" cy="76199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t-SNE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58F27C-1C81-B4E4-CD5B-96FFDB06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15"/>
          <a:stretch>
            <a:fillRect/>
          </a:stretch>
        </p:blipFill>
        <p:spPr>
          <a:xfrm>
            <a:off x="762000" y="2691549"/>
            <a:ext cx="5148072" cy="33977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59613E-DC92-2B72-6155-21EA5581D6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15"/>
          <a:stretch>
            <a:fillRect/>
          </a:stretch>
        </p:blipFill>
        <p:spPr>
          <a:xfrm>
            <a:off x="6278878" y="2697250"/>
            <a:ext cx="5148072" cy="339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4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35763-9AD5-319B-6EE1-02325FFA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E96ACCC-76CD-52B8-070B-B586A28ED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762000"/>
            <a:ext cx="3809999" cy="5334000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6BFB542-ED1A-F734-BF00-E629ED33DFA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b="1" dirty="0"/>
              <a:t>Baseline Performance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1AF608F-D411-D479-386A-C5B3F865CA6E}"/>
              </a:ext>
            </a:extLst>
          </p:cNvPr>
          <p:cNvSpPr txBox="1">
            <a:spLocks/>
          </p:cNvSpPr>
          <p:nvPr/>
        </p:nvSpPr>
        <p:spPr>
          <a:xfrm>
            <a:off x="819912" y="2286000"/>
            <a:ext cx="3694176" cy="30540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RF ≈ </a:t>
            </a:r>
            <a:r>
              <a:rPr lang="en-US" sz="1800" b="1" dirty="0"/>
              <a:t>97.6%</a:t>
            </a:r>
            <a:r>
              <a:rPr lang="en-US" sz="1800" dirty="0"/>
              <a:t> (best)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XGB, RBF close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Linear SVM </a:t>
            </a:r>
            <a:r>
              <a:rPr lang="en-US" sz="1800" b="1" dirty="0"/>
              <a:t>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46319B-8501-0E0F-8478-C23F6859C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94"/>
          <a:stretch>
            <a:fillRect/>
          </a:stretch>
        </p:blipFill>
        <p:spPr>
          <a:xfrm>
            <a:off x="4964584" y="1480646"/>
            <a:ext cx="6757416" cy="3896708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38280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46B28-58EC-EA81-FF1E-0A9416D5D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59CC49-21F0-9FF5-60C4-17F934B7D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762000"/>
            <a:ext cx="3809999" cy="5334000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B078FA5-02A5-396C-1B43-9624A36DDF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b="1" dirty="0"/>
              <a:t>LDA Performance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C6B158E-BD2B-6F67-0F02-70B6A555547D}"/>
              </a:ext>
            </a:extLst>
          </p:cNvPr>
          <p:cNvSpPr txBox="1">
            <a:spLocks/>
          </p:cNvSpPr>
          <p:nvPr/>
        </p:nvSpPr>
        <p:spPr>
          <a:xfrm>
            <a:off x="819912" y="2286000"/>
            <a:ext cx="3694176" cy="30540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Accuracy </a:t>
            </a:r>
            <a:r>
              <a:rPr lang="en-US" sz="1800" b="1" dirty="0"/>
              <a:t>drops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Information loss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5B1B8D-9C5A-12E8-5FA2-A76A963FC9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22"/>
          <a:stretch>
            <a:fillRect/>
          </a:stretch>
        </p:blipFill>
        <p:spPr>
          <a:xfrm>
            <a:off x="4964584" y="1480646"/>
            <a:ext cx="6757416" cy="3895523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16180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4D0A6-7A99-C111-DC7B-419F350A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8801F2-DC20-B800-07B0-7698D2A72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762000"/>
            <a:ext cx="3809999" cy="5334000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0D91243-3021-6E04-982C-2FE46762400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b="1" dirty="0"/>
              <a:t>One-Hot Performance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8ABD010-C127-9ABC-7682-B48A5908D1D4}"/>
              </a:ext>
            </a:extLst>
          </p:cNvPr>
          <p:cNvSpPr txBox="1">
            <a:spLocks/>
          </p:cNvSpPr>
          <p:nvPr/>
        </p:nvSpPr>
        <p:spPr>
          <a:xfrm>
            <a:off x="819912" y="2286000"/>
            <a:ext cx="3694176" cy="30540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RF </a:t>
            </a:r>
            <a:r>
              <a:rPr lang="en-US" sz="1800" b="1" dirty="0"/>
              <a:t>best overall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RBF </a:t>
            </a:r>
            <a:r>
              <a:rPr lang="en-US" sz="1800" b="1" dirty="0"/>
              <a:t>improves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Linear improves slightly</a:t>
            </a: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7CC5E-3196-5DAC-E5F9-A06786735D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94"/>
          <a:stretch>
            <a:fillRect/>
          </a:stretch>
        </p:blipFill>
        <p:spPr>
          <a:xfrm>
            <a:off x="4964584" y="1479461"/>
            <a:ext cx="6757416" cy="3896708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70606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7A40C-A2AF-66D3-89C5-6D053BBAB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D353-881D-34D1-D35A-F1692D011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Behavior and Key Findings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680431-8A07-EFEA-FB42-E8235EB2C92D}"/>
              </a:ext>
            </a:extLst>
          </p:cNvPr>
          <p:cNvGrpSpPr/>
          <p:nvPr/>
        </p:nvGrpSpPr>
        <p:grpSpPr>
          <a:xfrm>
            <a:off x="765047" y="2282952"/>
            <a:ext cx="5148072" cy="3813048"/>
            <a:chOff x="765047" y="2282952"/>
            <a:chExt cx="5148072" cy="381304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BBA1A7C-AC80-3042-653A-5CEF4AD2661B}"/>
                </a:ext>
              </a:extLst>
            </p:cNvPr>
            <p:cNvSpPr txBox="1"/>
            <p:nvPr/>
          </p:nvSpPr>
          <p:spPr>
            <a:xfrm>
              <a:off x="765047" y="2282952"/>
              <a:ext cx="5148072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DC0B3D1-A0D3-B78E-2175-046C14521150}"/>
                </a:ext>
              </a:extLst>
            </p:cNvPr>
            <p:cNvSpPr txBox="1">
              <a:spLocks/>
            </p:cNvSpPr>
            <p:nvPr/>
          </p:nvSpPr>
          <p:spPr>
            <a:xfrm>
              <a:off x="822961" y="3429000"/>
              <a:ext cx="5029200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RF best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RBF next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XGB close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Linear worst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Nonlinear &gt; linear</a:t>
              </a:r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0B60A6-8EF5-BC54-FB66-E3896A2EF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Performance Patterns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807C93C-B8C2-91FF-1E3A-14140DA4C5AF}"/>
              </a:ext>
            </a:extLst>
          </p:cNvPr>
          <p:cNvGrpSpPr/>
          <p:nvPr/>
        </p:nvGrpSpPr>
        <p:grpSpPr>
          <a:xfrm>
            <a:off x="6280403" y="2282952"/>
            <a:ext cx="5148072" cy="3813048"/>
            <a:chOff x="6280403" y="2282952"/>
            <a:chExt cx="5148072" cy="381304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9F05ED-F34F-652C-0820-BA1865A0A0AE}"/>
                </a:ext>
              </a:extLst>
            </p:cNvPr>
            <p:cNvSpPr txBox="1"/>
            <p:nvPr/>
          </p:nvSpPr>
          <p:spPr>
            <a:xfrm>
              <a:off x="6280403" y="2282952"/>
              <a:ext cx="5148072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1ECCA6-1DD5-D6F8-DFFD-BA3E837903C5}"/>
                </a:ext>
              </a:extLst>
            </p:cNvPr>
            <p:cNvSpPr txBox="1"/>
            <p:nvPr/>
          </p:nvSpPr>
          <p:spPr>
            <a:xfrm>
              <a:off x="6339839" y="3429000"/>
              <a:ext cx="5029200" cy="12003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One-hot improves </a:t>
              </a:r>
              <a:r>
                <a:rPr lang="en-US" dirty="0"/>
                <a:t>results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LDA reduces </a:t>
              </a:r>
              <a:r>
                <a:rPr lang="en-US" dirty="0"/>
                <a:t>accuracy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Nonlinear models dominate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RF most consistent</a:t>
              </a:r>
            </a:p>
          </p:txBody>
        </p: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65EE73-64E1-349A-93A0-C391E6511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Core Findings</a:t>
            </a:r>
          </a:p>
        </p:txBody>
      </p:sp>
    </p:spTree>
    <p:extLst>
      <p:ext uri="{BB962C8B-B14F-4D97-AF65-F5344CB8AC3E}">
        <p14:creationId xmlns:p14="http://schemas.microsoft.com/office/powerpoint/2010/main" val="2093675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0735-F23B-398E-3A45-77F0DC1FA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07CB-C4C2-B680-A239-AF0EAD52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Human vs. AI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8F5AC2-9614-87C7-AAD9-C9EC1339C1E1}"/>
              </a:ext>
            </a:extLst>
          </p:cNvPr>
          <p:cNvGrpSpPr/>
          <p:nvPr/>
        </p:nvGrpSpPr>
        <p:grpSpPr>
          <a:xfrm>
            <a:off x="765047" y="2282952"/>
            <a:ext cx="5148072" cy="3813048"/>
            <a:chOff x="765047" y="2282952"/>
            <a:chExt cx="5148072" cy="381304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187FE1-507F-181D-5683-CFBC340B896A}"/>
                </a:ext>
              </a:extLst>
            </p:cNvPr>
            <p:cNvSpPr txBox="1"/>
            <p:nvPr/>
          </p:nvSpPr>
          <p:spPr>
            <a:xfrm>
              <a:off x="765047" y="2282952"/>
              <a:ext cx="5148072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1BF51B-C171-2A13-9112-BB1EC887282F}"/>
                </a:ext>
              </a:extLst>
            </p:cNvPr>
            <p:cNvSpPr txBox="1">
              <a:spLocks/>
            </p:cNvSpPr>
            <p:nvPr/>
          </p:nvSpPr>
          <p:spPr>
            <a:xfrm>
              <a:off x="822961" y="3429000"/>
              <a:ext cx="50292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Designed </a:t>
              </a:r>
              <a:r>
                <a:rPr lang="en-US" b="1" dirty="0"/>
                <a:t>pipeline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Selected </a:t>
              </a:r>
              <a:r>
                <a:rPr lang="en-US" b="1" dirty="0"/>
                <a:t>features/models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Interpreted </a:t>
              </a:r>
              <a:r>
                <a:rPr lang="en-US" b="1" dirty="0"/>
                <a:t>results</a:t>
              </a:r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B597D-F58B-06C4-CB8F-12559AFC4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Human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5B9DBD-75B1-ACEC-3E38-58005E9BE6E9}"/>
              </a:ext>
            </a:extLst>
          </p:cNvPr>
          <p:cNvGrpSpPr/>
          <p:nvPr/>
        </p:nvGrpSpPr>
        <p:grpSpPr>
          <a:xfrm>
            <a:off x="6280403" y="2282952"/>
            <a:ext cx="5148072" cy="3813048"/>
            <a:chOff x="6280403" y="2282952"/>
            <a:chExt cx="5148072" cy="381304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C76360-1AB0-D6A9-351A-E9847B7823F8}"/>
                </a:ext>
              </a:extLst>
            </p:cNvPr>
            <p:cNvSpPr txBox="1"/>
            <p:nvPr/>
          </p:nvSpPr>
          <p:spPr>
            <a:xfrm>
              <a:off x="6280403" y="2282952"/>
              <a:ext cx="5148072" cy="3813048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71F5BA-72ED-CFF8-1A54-95673FF9CB81}"/>
                </a:ext>
              </a:extLst>
            </p:cNvPr>
            <p:cNvSpPr txBox="1"/>
            <p:nvPr/>
          </p:nvSpPr>
          <p:spPr>
            <a:xfrm>
              <a:off x="6339839" y="3429000"/>
              <a:ext cx="50292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Learned </a:t>
              </a:r>
              <a:r>
                <a:rPr lang="en-US" b="1" dirty="0"/>
                <a:t>patterns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Scaled </a:t>
              </a:r>
              <a:r>
                <a:rPr lang="en-US" b="1" dirty="0"/>
                <a:t>predictions</a:t>
              </a:r>
            </a:p>
          </p:txBody>
        </p: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47F464-B4F3-A0BC-50EC-4D0561B96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1582804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2F766-9575-DA0F-3440-A893EF66D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40B077-B094-4A08-BE18-169281082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3B23E-7505-F094-B409-0E4AA78CA6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64" b="11612"/>
          <a:stretch>
            <a:fillRect/>
          </a:stretch>
        </p:blipFill>
        <p:spPr>
          <a:xfrm>
            <a:off x="762020" y="10"/>
            <a:ext cx="10563208" cy="6857989"/>
          </a:xfrm>
          <a:custGeom>
            <a:avLst/>
            <a:gdLst/>
            <a:ahLst/>
            <a:cxnLst/>
            <a:rect l="l" t="t" r="r" b="b"/>
            <a:pathLst>
              <a:path w="10563208" h="6857999">
                <a:moveTo>
                  <a:pt x="2972188" y="0"/>
                </a:moveTo>
                <a:lnTo>
                  <a:pt x="9314249" y="0"/>
                </a:lnTo>
                <a:lnTo>
                  <a:pt x="9430878" y="69747"/>
                </a:lnTo>
                <a:cubicBezTo>
                  <a:pt x="10469689" y="743984"/>
                  <a:pt x="10949181" y="1780548"/>
                  <a:pt x="10195831" y="3077552"/>
                </a:cubicBezTo>
                <a:cubicBezTo>
                  <a:pt x="9461455" y="4340761"/>
                  <a:pt x="6866226" y="6111009"/>
                  <a:pt x="4489476" y="6779100"/>
                </a:cubicBezTo>
                <a:lnTo>
                  <a:pt x="4186946" y="6857999"/>
                </a:lnTo>
                <a:lnTo>
                  <a:pt x="1585769" y="6857999"/>
                </a:lnTo>
                <a:lnTo>
                  <a:pt x="1579154" y="6855853"/>
                </a:lnTo>
                <a:cubicBezTo>
                  <a:pt x="420876" y="6413862"/>
                  <a:pt x="-116852" y="5223019"/>
                  <a:pt x="21216" y="4162463"/>
                </a:cubicBezTo>
                <a:cubicBezTo>
                  <a:pt x="214507" y="2676946"/>
                  <a:pt x="1422204" y="1213361"/>
                  <a:pt x="2693841" y="199072"/>
                </a:cubicBez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2B0C795-6883-4711-B6F6-83DDF5FCE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2395">
            <a:off x="-203613" y="521506"/>
            <a:ext cx="4964805" cy="5926406"/>
          </a:xfrm>
          <a:custGeom>
            <a:avLst/>
            <a:gdLst>
              <a:gd name="connsiteX0" fmla="*/ 5024420 w 11934510"/>
              <a:gd name="connsiteY0" fmla="*/ 0 h 6880561"/>
              <a:gd name="connsiteX1" fmla="*/ 11824874 w 11934510"/>
              <a:gd name="connsiteY1" fmla="*/ 1732582 h 6880561"/>
              <a:gd name="connsiteX2" fmla="*/ 11882639 w 11934510"/>
              <a:gd name="connsiteY2" fmla="*/ 1883990 h 6880561"/>
              <a:gd name="connsiteX3" fmla="*/ 11519441 w 11934510"/>
              <a:gd name="connsiteY3" fmla="*/ 3358089 h 6880561"/>
              <a:gd name="connsiteX4" fmla="*/ 4347825 w 11934510"/>
              <a:gd name="connsiteY4" fmla="*/ 6867400 h 6880561"/>
              <a:gd name="connsiteX5" fmla="*/ 4253086 w 11934510"/>
              <a:gd name="connsiteY5" fmla="*/ 6880561 h 6880561"/>
              <a:gd name="connsiteX6" fmla="*/ 449822 w 11934510"/>
              <a:gd name="connsiteY6" fmla="*/ 5911586 h 6880561"/>
              <a:gd name="connsiteX7" fmla="*/ 354825 w 11934510"/>
              <a:gd name="connsiteY7" fmla="*/ 5782669 h 6880561"/>
              <a:gd name="connsiteX8" fmla="*/ 23970 w 11934510"/>
              <a:gd name="connsiteY8" fmla="*/ 4345656 h 6880561"/>
              <a:gd name="connsiteX9" fmla="*/ 3043552 w 11934510"/>
              <a:gd name="connsiteY9" fmla="*/ 737881 h 6880561"/>
              <a:gd name="connsiteX10" fmla="*/ 4929305 w 11934510"/>
              <a:gd name="connsiteY10" fmla="*/ 17161 h 6880561"/>
              <a:gd name="connsiteX0" fmla="*/ 11824874 w 11934510"/>
              <a:gd name="connsiteY0" fmla="*/ 1715714 h 6863693"/>
              <a:gd name="connsiteX1" fmla="*/ 11882639 w 11934510"/>
              <a:gd name="connsiteY1" fmla="*/ 1867122 h 6863693"/>
              <a:gd name="connsiteX2" fmla="*/ 11519441 w 11934510"/>
              <a:gd name="connsiteY2" fmla="*/ 3341221 h 6863693"/>
              <a:gd name="connsiteX3" fmla="*/ 4347825 w 11934510"/>
              <a:gd name="connsiteY3" fmla="*/ 6850532 h 6863693"/>
              <a:gd name="connsiteX4" fmla="*/ 4253086 w 11934510"/>
              <a:gd name="connsiteY4" fmla="*/ 6863693 h 6863693"/>
              <a:gd name="connsiteX5" fmla="*/ 449822 w 11934510"/>
              <a:gd name="connsiteY5" fmla="*/ 5894718 h 6863693"/>
              <a:gd name="connsiteX6" fmla="*/ 354825 w 11934510"/>
              <a:gd name="connsiteY6" fmla="*/ 5765801 h 6863693"/>
              <a:gd name="connsiteX7" fmla="*/ 23970 w 11934510"/>
              <a:gd name="connsiteY7" fmla="*/ 4328788 h 6863693"/>
              <a:gd name="connsiteX8" fmla="*/ 3043552 w 11934510"/>
              <a:gd name="connsiteY8" fmla="*/ 721013 h 6863693"/>
              <a:gd name="connsiteX9" fmla="*/ 4929305 w 11934510"/>
              <a:gd name="connsiteY9" fmla="*/ 293 h 6863693"/>
              <a:gd name="connsiteX10" fmla="*/ 5115860 w 11934510"/>
              <a:gd name="connsiteY10" fmla="*/ 74572 h 6863693"/>
              <a:gd name="connsiteX0" fmla="*/ 11882639 w 11934510"/>
              <a:gd name="connsiteY0" fmla="*/ 1867122 h 6863693"/>
              <a:gd name="connsiteX1" fmla="*/ 11519441 w 11934510"/>
              <a:gd name="connsiteY1" fmla="*/ 3341221 h 6863693"/>
              <a:gd name="connsiteX2" fmla="*/ 4347825 w 11934510"/>
              <a:gd name="connsiteY2" fmla="*/ 6850532 h 6863693"/>
              <a:gd name="connsiteX3" fmla="*/ 4253086 w 11934510"/>
              <a:gd name="connsiteY3" fmla="*/ 6863693 h 6863693"/>
              <a:gd name="connsiteX4" fmla="*/ 449822 w 11934510"/>
              <a:gd name="connsiteY4" fmla="*/ 5894718 h 6863693"/>
              <a:gd name="connsiteX5" fmla="*/ 354825 w 11934510"/>
              <a:gd name="connsiteY5" fmla="*/ 5765801 h 6863693"/>
              <a:gd name="connsiteX6" fmla="*/ 23970 w 11934510"/>
              <a:gd name="connsiteY6" fmla="*/ 4328788 h 6863693"/>
              <a:gd name="connsiteX7" fmla="*/ 3043552 w 11934510"/>
              <a:gd name="connsiteY7" fmla="*/ 721013 h 6863693"/>
              <a:gd name="connsiteX8" fmla="*/ 4929305 w 11934510"/>
              <a:gd name="connsiteY8" fmla="*/ 293 h 6863693"/>
              <a:gd name="connsiteX9" fmla="*/ 5115860 w 11934510"/>
              <a:gd name="connsiteY9" fmla="*/ 74572 h 6863693"/>
              <a:gd name="connsiteX0" fmla="*/ 11519441 w 11519441"/>
              <a:gd name="connsiteY0" fmla="*/ 3341221 h 6863693"/>
              <a:gd name="connsiteX1" fmla="*/ 4347825 w 11519441"/>
              <a:gd name="connsiteY1" fmla="*/ 6850532 h 6863693"/>
              <a:gd name="connsiteX2" fmla="*/ 4253086 w 11519441"/>
              <a:gd name="connsiteY2" fmla="*/ 6863693 h 6863693"/>
              <a:gd name="connsiteX3" fmla="*/ 449822 w 11519441"/>
              <a:gd name="connsiteY3" fmla="*/ 5894718 h 6863693"/>
              <a:gd name="connsiteX4" fmla="*/ 354825 w 11519441"/>
              <a:gd name="connsiteY4" fmla="*/ 5765801 h 6863693"/>
              <a:gd name="connsiteX5" fmla="*/ 23970 w 11519441"/>
              <a:gd name="connsiteY5" fmla="*/ 4328788 h 6863693"/>
              <a:gd name="connsiteX6" fmla="*/ 3043552 w 11519441"/>
              <a:gd name="connsiteY6" fmla="*/ 721013 h 6863693"/>
              <a:gd name="connsiteX7" fmla="*/ 4929305 w 11519441"/>
              <a:gd name="connsiteY7" fmla="*/ 293 h 6863693"/>
              <a:gd name="connsiteX8" fmla="*/ 5115860 w 11519441"/>
              <a:gd name="connsiteY8" fmla="*/ 74572 h 6863693"/>
              <a:gd name="connsiteX0" fmla="*/ 4347825 w 5115860"/>
              <a:gd name="connsiteY0" fmla="*/ 6850532 h 6863693"/>
              <a:gd name="connsiteX1" fmla="*/ 4253086 w 5115860"/>
              <a:gd name="connsiteY1" fmla="*/ 6863693 h 6863693"/>
              <a:gd name="connsiteX2" fmla="*/ 449822 w 5115860"/>
              <a:gd name="connsiteY2" fmla="*/ 5894718 h 6863693"/>
              <a:gd name="connsiteX3" fmla="*/ 354825 w 5115860"/>
              <a:gd name="connsiteY3" fmla="*/ 5765801 h 6863693"/>
              <a:gd name="connsiteX4" fmla="*/ 23970 w 5115860"/>
              <a:gd name="connsiteY4" fmla="*/ 4328788 h 6863693"/>
              <a:gd name="connsiteX5" fmla="*/ 3043552 w 5115860"/>
              <a:gd name="connsiteY5" fmla="*/ 721013 h 6863693"/>
              <a:gd name="connsiteX6" fmla="*/ 4929305 w 5115860"/>
              <a:gd name="connsiteY6" fmla="*/ 293 h 6863693"/>
              <a:gd name="connsiteX7" fmla="*/ 5115860 w 5115860"/>
              <a:gd name="connsiteY7" fmla="*/ 74572 h 6863693"/>
              <a:gd name="connsiteX0" fmla="*/ 4347825 w 5115860"/>
              <a:gd name="connsiteY0" fmla="*/ 6850532 h 6850532"/>
              <a:gd name="connsiteX1" fmla="*/ 449822 w 5115860"/>
              <a:gd name="connsiteY1" fmla="*/ 5894718 h 6850532"/>
              <a:gd name="connsiteX2" fmla="*/ 354825 w 5115860"/>
              <a:gd name="connsiteY2" fmla="*/ 5765801 h 6850532"/>
              <a:gd name="connsiteX3" fmla="*/ 23970 w 5115860"/>
              <a:gd name="connsiteY3" fmla="*/ 4328788 h 6850532"/>
              <a:gd name="connsiteX4" fmla="*/ 3043552 w 5115860"/>
              <a:gd name="connsiteY4" fmla="*/ 721013 h 6850532"/>
              <a:gd name="connsiteX5" fmla="*/ 4929305 w 5115860"/>
              <a:gd name="connsiteY5" fmla="*/ 293 h 6850532"/>
              <a:gd name="connsiteX6" fmla="*/ 5115860 w 5115860"/>
              <a:gd name="connsiteY6" fmla="*/ 74572 h 6850532"/>
              <a:gd name="connsiteX0" fmla="*/ 449822 w 5115860"/>
              <a:gd name="connsiteY0" fmla="*/ 5894718 h 5894718"/>
              <a:gd name="connsiteX1" fmla="*/ 354825 w 5115860"/>
              <a:gd name="connsiteY1" fmla="*/ 5765801 h 5894718"/>
              <a:gd name="connsiteX2" fmla="*/ 23970 w 5115860"/>
              <a:gd name="connsiteY2" fmla="*/ 4328788 h 5894718"/>
              <a:gd name="connsiteX3" fmla="*/ 3043552 w 5115860"/>
              <a:gd name="connsiteY3" fmla="*/ 721013 h 5894718"/>
              <a:gd name="connsiteX4" fmla="*/ 4929305 w 5115860"/>
              <a:gd name="connsiteY4" fmla="*/ 293 h 5894718"/>
              <a:gd name="connsiteX5" fmla="*/ 5115860 w 5115860"/>
              <a:gd name="connsiteY5" fmla="*/ 74572 h 5894718"/>
              <a:gd name="connsiteX0" fmla="*/ 449822 w 4929305"/>
              <a:gd name="connsiteY0" fmla="*/ 5894425 h 5894425"/>
              <a:gd name="connsiteX1" fmla="*/ 354825 w 4929305"/>
              <a:gd name="connsiteY1" fmla="*/ 5765508 h 5894425"/>
              <a:gd name="connsiteX2" fmla="*/ 23970 w 4929305"/>
              <a:gd name="connsiteY2" fmla="*/ 4328495 h 5894425"/>
              <a:gd name="connsiteX3" fmla="*/ 3043552 w 4929305"/>
              <a:gd name="connsiteY3" fmla="*/ 720720 h 5894425"/>
              <a:gd name="connsiteX4" fmla="*/ 4929305 w 4929305"/>
              <a:gd name="connsiteY4" fmla="*/ 0 h 5894425"/>
              <a:gd name="connsiteX0" fmla="*/ 449822 w 4964805"/>
              <a:gd name="connsiteY0" fmla="*/ 5926406 h 5926406"/>
              <a:gd name="connsiteX1" fmla="*/ 354825 w 4964805"/>
              <a:gd name="connsiteY1" fmla="*/ 5797489 h 5926406"/>
              <a:gd name="connsiteX2" fmla="*/ 23970 w 4964805"/>
              <a:gd name="connsiteY2" fmla="*/ 4360476 h 5926406"/>
              <a:gd name="connsiteX3" fmla="*/ 3043552 w 4964805"/>
              <a:gd name="connsiteY3" fmla="*/ 752701 h 5926406"/>
              <a:gd name="connsiteX4" fmla="*/ 4964805 w 4964805"/>
              <a:gd name="connsiteY4" fmla="*/ 0 h 5926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64805" h="5926406">
                <a:moveTo>
                  <a:pt x="449822" y="5926406"/>
                </a:moveTo>
                <a:lnTo>
                  <a:pt x="354825" y="5797489"/>
                </a:lnTo>
                <a:cubicBezTo>
                  <a:pt x="58859" y="5355524"/>
                  <a:pt x="-54026" y="4843176"/>
                  <a:pt x="23970" y="4360476"/>
                </a:cubicBezTo>
                <a:cubicBezTo>
                  <a:pt x="242354" y="3008247"/>
                  <a:pt x="1606832" y="1675983"/>
                  <a:pt x="3043552" y="752701"/>
                </a:cubicBezTo>
                <a:cubicBezTo>
                  <a:pt x="3566944" y="417419"/>
                  <a:pt x="4253941" y="148005"/>
                  <a:pt x="4964805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743BC3-3643-573C-43E2-D2B5B0B09ED4}"/>
              </a:ext>
            </a:extLst>
          </p:cNvPr>
          <p:cNvSpPr txBox="1">
            <a:spLocks/>
          </p:cNvSpPr>
          <p:nvPr/>
        </p:nvSpPr>
        <p:spPr>
          <a:xfrm>
            <a:off x="762000" y="762000"/>
            <a:ext cx="10668000" cy="1524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b="1" dirty="0"/>
              <a:t>Hypothesis supported</a:t>
            </a:r>
            <a:r>
              <a:rPr lang="en-US" dirty="0"/>
              <a:t> — models learned card patterns effectively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490D7E9-0A08-4FF6-0B4E-97F9701A1490}"/>
              </a:ext>
            </a:extLst>
          </p:cNvPr>
          <p:cNvSpPr txBox="1">
            <a:spLocks/>
          </p:cNvSpPr>
          <p:nvPr/>
        </p:nvSpPr>
        <p:spPr>
          <a:xfrm>
            <a:off x="762000" y="2667000"/>
            <a:ext cx="10668000" cy="1524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Feature representation + </a:t>
            </a:r>
            <a:r>
              <a:rPr lang="en-US" b="1" dirty="0"/>
              <a:t>nonlinear models</a:t>
            </a:r>
            <a:r>
              <a:rPr lang="en-US" dirty="0"/>
              <a:t> → highest accuracy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9E27F6D-62AF-F22B-3534-7D920DE98CF8}"/>
              </a:ext>
            </a:extLst>
          </p:cNvPr>
          <p:cNvSpPr txBox="1">
            <a:spLocks/>
          </p:cNvSpPr>
          <p:nvPr/>
        </p:nvSpPr>
        <p:spPr>
          <a:xfrm>
            <a:off x="762000" y="4570013"/>
            <a:ext cx="10668000" cy="1524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Best: </a:t>
            </a:r>
            <a:r>
              <a:rPr lang="en-US" b="1" dirty="0"/>
              <a:t>Random Forest + One-Hot</a:t>
            </a:r>
          </a:p>
        </p:txBody>
      </p:sp>
    </p:spTree>
    <p:extLst>
      <p:ext uri="{BB962C8B-B14F-4D97-AF65-F5344CB8AC3E}">
        <p14:creationId xmlns:p14="http://schemas.microsoft.com/office/powerpoint/2010/main" val="2419170037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296</TotalTime>
  <Words>315</Words>
  <Application>Microsoft Macintosh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Avenir Next LT Pro</vt:lpstr>
      <vt:lpstr>Avenir Next LT Pro Light</vt:lpstr>
      <vt:lpstr>Sitka Subheading</vt:lpstr>
      <vt:lpstr>PebbleVTI</vt:lpstr>
      <vt:lpstr>Poker Hand Classification Using Machine Learning</vt:lpstr>
      <vt:lpstr>Big Data Context</vt:lpstr>
      <vt:lpstr>Defining the Problem Space</vt:lpstr>
      <vt:lpstr>Hypothesis</vt:lpstr>
      <vt:lpstr>Feature and Modeling Techniques</vt:lpstr>
      <vt:lpstr>Class Imbalance</vt:lpstr>
      <vt:lpstr>Feature Relationships</vt:lpstr>
      <vt:lpstr>Feature Space Comparison</vt:lpstr>
      <vt:lpstr>Baseline Performance</vt:lpstr>
      <vt:lpstr>LDA Performance</vt:lpstr>
      <vt:lpstr>One-Hot Performance</vt:lpstr>
      <vt:lpstr>Model Behavior and Key Findings</vt:lpstr>
      <vt:lpstr>Human vs.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Azaria Reed</dc:creator>
  <cp:lastModifiedBy>Azaria Reed</cp:lastModifiedBy>
  <cp:revision>20</cp:revision>
  <dcterms:created xsi:type="dcterms:W3CDTF">2026-04-12T05:55:17Z</dcterms:created>
  <dcterms:modified xsi:type="dcterms:W3CDTF">2026-04-13T05:21:02Z</dcterms:modified>
</cp:coreProperties>
</file>