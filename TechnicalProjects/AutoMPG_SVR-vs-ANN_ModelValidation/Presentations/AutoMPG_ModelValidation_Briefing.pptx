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719"/>
  </p:normalViewPr>
  <p:slideViewPr>
    <p:cSldViewPr snapToGrid="0">
      <p:cViewPr varScale="1">
        <p:scale>
          <a:sx n="82" d="100"/>
          <a:sy n="82" d="100"/>
        </p:scale>
        <p:origin x="184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8996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58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25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5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8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9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5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4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7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5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8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12/5/25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7685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52D9D-B377-E830-5AE9-B1DB39DB7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0" y="540000"/>
            <a:ext cx="3345950" cy="2303213"/>
          </a:xfrm>
        </p:spPr>
        <p:txBody>
          <a:bodyPr vert="horz" lIns="0" tIns="0" rIns="0" bIns="0" rtlCol="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predicting automobile fuel efficiency using svr and ann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DAADF0B-D9A0-A26A-D1A7-4EB821B5B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3552" y="540000"/>
            <a:ext cx="6107460" cy="2303213"/>
          </a:xfrm>
        </p:spPr>
        <p:txBody>
          <a:bodyPr vert="horz" lIns="0" tIns="0" rIns="0" bIns="0" rtlCol="0" anchor="ctr" anchorCtr="0">
            <a:normAutofit/>
          </a:bodyPr>
          <a:lstStyle/>
          <a:p>
            <a:pPr algn="l"/>
            <a:r>
              <a:rPr lang="en-US" sz="2000" dirty="0"/>
              <a:t>Wyatt Laughner and Azaria Reed (Group 9)</a:t>
            </a:r>
          </a:p>
          <a:p>
            <a:pPr algn="l"/>
            <a:r>
              <a:rPr lang="en-US" sz="2000" dirty="0"/>
              <a:t>CS 430: Survey of Artificial Intelligence</a:t>
            </a:r>
          </a:p>
          <a:p>
            <a:pPr algn="l"/>
            <a:r>
              <a:rPr lang="en-US" sz="2000" dirty="0"/>
              <a:t>Dr. Chaity Banerjee Mukherjee</a:t>
            </a:r>
          </a:p>
          <a:p>
            <a:pPr algn="l"/>
            <a:r>
              <a:rPr lang="en-US" sz="2000" dirty="0"/>
              <a:t>December 2025</a:t>
            </a:r>
          </a:p>
        </p:txBody>
      </p:sp>
      <p:pic>
        <p:nvPicPr>
          <p:cNvPr id="4" name="Picture 3" descr="A colorful waves on a black background&#10;&#10;AI-generated content may be incorrect.">
            <a:extLst>
              <a:ext uri="{FF2B5EF4-FFF2-40B4-BE49-F238E27FC236}">
                <a16:creationId xmlns:a16="http://schemas.microsoft.com/office/drawing/2014/main" id="{350E2DE6-9776-005D-8DD6-83A450BE6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460" b="13040"/>
          <a:stretch>
            <a:fillRect/>
          </a:stretch>
        </p:blipFill>
        <p:spPr>
          <a:xfrm>
            <a:off x="20" y="3429000"/>
            <a:ext cx="1219197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78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16701-DAD0-1E76-0FEE-E57AB988C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7AB21-3568-E512-09A0-974347D0BA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Goals of the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</a:t>
            </a:r>
            <a:r>
              <a:rPr lang="en-US" b="1" dirty="0"/>
              <a:t>miles per gallon (mpg) </a:t>
            </a:r>
            <a:r>
              <a:rPr lang="en-US" dirty="0"/>
              <a:t>from the UCI Auto MPG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two machine learning approaches: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Support Vector Regressor (SVR)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Artificial Neural Network (ANN)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their performance using the mean squared error (MSE) metric.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65F0B-C6AC-5AE1-06C3-63A075F6AF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We Did: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Loaded and cleaned the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Preprocessed the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Trained both models using </a:t>
            </a:r>
            <a:r>
              <a:rPr lang="en-US" b="1" dirty="0"/>
              <a:t>existing libraries and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Evaluated and compared accuracy</a:t>
            </a:r>
          </a:p>
        </p:txBody>
      </p:sp>
    </p:spTree>
    <p:extLst>
      <p:ext uri="{BB962C8B-B14F-4D97-AF65-F5344CB8AC3E}">
        <p14:creationId xmlns:p14="http://schemas.microsoft.com/office/powerpoint/2010/main" val="243313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A7A86-DCB5-BE38-4E7B-92F629E2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6BC0-F568-E29D-A9DD-74BF546E3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Dataset:</a:t>
            </a:r>
            <a:r>
              <a:rPr lang="en-US" dirty="0"/>
              <a:t> UCI Auto MPG Dataset</a:t>
            </a:r>
          </a:p>
          <a:p>
            <a:pPr marL="0" indent="0">
              <a:buNone/>
            </a:pPr>
            <a:r>
              <a:rPr lang="en-US" b="1" dirty="0"/>
              <a:t>Instances:</a:t>
            </a:r>
            <a:r>
              <a:rPr lang="en-US" dirty="0"/>
              <a:t> 398</a:t>
            </a:r>
          </a:p>
          <a:p>
            <a:pPr marL="0" indent="0">
              <a:buNone/>
            </a:pPr>
            <a:r>
              <a:rPr lang="en-US" b="1" dirty="0"/>
              <a:t>ID: </a:t>
            </a:r>
            <a:r>
              <a:rPr lang="en-US" dirty="0"/>
              <a:t>Car name</a:t>
            </a:r>
          </a:p>
          <a:p>
            <a:pPr marL="0" indent="0">
              <a:buNone/>
            </a:pPr>
            <a:r>
              <a:rPr lang="en-US" b="1" dirty="0"/>
              <a:t>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Cylinders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Horsepower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Acceleration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Origin</a:t>
            </a:r>
          </a:p>
          <a:p>
            <a:pPr marL="0" indent="0">
              <a:buNone/>
            </a:pPr>
            <a:r>
              <a:rPr lang="en-US" b="1" dirty="0"/>
              <a:t>Target: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MPG (automobile fuel efficiency)</a:t>
            </a:r>
          </a:p>
          <a:p>
            <a:pPr marL="0" indent="0">
              <a:buNone/>
            </a:pPr>
            <a:r>
              <a:rPr lang="en-US" b="1" dirty="0"/>
              <a:t>Issues Identified: </a:t>
            </a:r>
            <a:endParaRPr lang="en-US" dirty="0"/>
          </a:p>
          <a:p>
            <a:r>
              <a:rPr lang="en-US" dirty="0"/>
              <a:t>Missing values for </a:t>
            </a:r>
            <a:r>
              <a:rPr lang="en-US" b="1" dirty="0"/>
              <a:t>horsepower</a:t>
            </a:r>
          </a:p>
        </p:txBody>
      </p:sp>
    </p:spTree>
    <p:extLst>
      <p:ext uri="{BB962C8B-B14F-4D97-AF65-F5344CB8AC3E}">
        <p14:creationId xmlns:p14="http://schemas.microsoft.com/office/powerpoint/2010/main" val="351608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6E38-EF1A-E9AE-FAC1-CD08538D1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5C3B0-17E9-3D8A-C85D-1583CB7F77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Steps We Took: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Read the dataset</a:t>
            </a:r>
            <a:r>
              <a:rPr lang="en-US" dirty="0"/>
              <a:t> using </a:t>
            </a:r>
            <a:r>
              <a:rPr lang="en-US" dirty="0" err="1"/>
              <a:t>pandas.read_csv</a:t>
            </a:r>
            <a:r>
              <a:rPr lang="en-US" dirty="0"/>
              <a:t>() with whitespace delimiter.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Converted “?” to </a:t>
            </a:r>
            <a:r>
              <a:rPr lang="en-US" b="1" dirty="0" err="1"/>
              <a:t>NaN</a:t>
            </a:r>
            <a:r>
              <a:rPr lang="en-US" dirty="0"/>
              <a:t> using </a:t>
            </a:r>
            <a:r>
              <a:rPr lang="en-US" dirty="0" err="1"/>
              <a:t>na_values</a:t>
            </a:r>
            <a:r>
              <a:rPr lang="en-US" dirty="0"/>
              <a:t>="?".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Dropped missing rows</a:t>
            </a:r>
            <a:r>
              <a:rPr lang="en-US" dirty="0"/>
              <a:t> using </a:t>
            </a:r>
            <a:r>
              <a:rPr lang="en-US" dirty="0" err="1"/>
              <a:t>dropna</a:t>
            </a:r>
            <a:r>
              <a:rPr lang="en-US" dirty="0"/>
              <a:t>().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Selected the 7 numeric features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Performed 80/20 train-test split</a:t>
            </a:r>
            <a:r>
              <a:rPr lang="en-US" dirty="0"/>
              <a:t> using </a:t>
            </a:r>
            <a:r>
              <a:rPr lang="en-US" dirty="0" err="1"/>
              <a:t>train_test_split</a:t>
            </a:r>
            <a:r>
              <a:rPr lang="en-US" dirty="0"/>
              <a:t>().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F91D1-5441-C4FB-0491-8B47F50A4C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Why This Matters: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Removes invalid entries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Matches preprocessing from class homework</a:t>
            </a:r>
          </a:p>
        </p:txBody>
      </p:sp>
    </p:spTree>
    <p:extLst>
      <p:ext uri="{BB962C8B-B14F-4D97-AF65-F5344CB8AC3E}">
        <p14:creationId xmlns:p14="http://schemas.microsoft.com/office/powerpoint/2010/main" val="2706896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F2A0-8414-C762-4922-B5F3384D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Svr approach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05C9-829E-CC5D-0BEA-4813B31769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Learns nonlinear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Performs well on small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Widely used baseline regression model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Library Used:</a:t>
            </a:r>
            <a:r>
              <a:rPr lang="en-US"/>
              <a:t> scikit-learn (sklearn.svm.SVR)</a:t>
            </a:r>
          </a:p>
          <a:p>
            <a:pPr marL="0" indent="0">
              <a:buNone/>
            </a:pPr>
            <a:r>
              <a:rPr lang="en-US" b="1"/>
              <a:t>Pipeline Steps: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Scale features using StandardScaler()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Train SVR with RBF kernel</a:t>
            </a:r>
          </a:p>
          <a:p>
            <a:pPr marL="0" indent="0">
              <a:buNone/>
            </a:pPr>
            <a:r>
              <a:rPr lang="en-US" b="1"/>
              <a:t>Code Structure:</a:t>
            </a:r>
            <a:endParaRPr lang="en-US"/>
          </a:p>
          <a:p>
            <a:pPr marL="360000" lvl="2" indent="0">
              <a:buNone/>
            </a:pPr>
            <a:r>
              <a:rPr lang="en-US"/>
              <a:t>Pipeline([</a:t>
            </a:r>
          </a:p>
          <a:p>
            <a:pPr marL="360000" lvl="2" indent="0">
              <a:buNone/>
            </a:pPr>
            <a:r>
              <a:rPr lang="en-US"/>
              <a:t>    ("scaler", StandardScaler()),</a:t>
            </a:r>
          </a:p>
          <a:p>
            <a:pPr marL="360000" lvl="2" indent="0">
              <a:buNone/>
            </a:pPr>
            <a:r>
              <a:rPr lang="en-US"/>
              <a:t>    ("svr", SVR(kernel="rbf"))</a:t>
            </a:r>
          </a:p>
          <a:p>
            <a:pPr marL="360000" lvl="2" indent="0">
              <a:buNone/>
            </a:pPr>
            <a:r>
              <a:rPr lang="en-US"/>
              <a:t>])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06345DE-3872-E781-4C46-48865BE475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65875" y="2652644"/>
            <a:ext cx="4740275" cy="225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5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72E8CF-B364-9AD7-C754-8D5F3CCD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ann</a:t>
            </a:r>
            <a:r>
              <a:rPr lang="en-US" b="1" dirty="0"/>
              <a:t> approach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D5D247-493A-BBC7-1EF0-167CDD5667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Learns deeper nonlinear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Often outperforms SVR with enough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well with continuous prediction tasks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Library Used:</a:t>
            </a:r>
            <a:r>
              <a:rPr lang="en-US" dirty="0"/>
              <a:t> scikit-learn (</a:t>
            </a:r>
            <a:r>
              <a:rPr lang="en-US" dirty="0" err="1"/>
              <a:t>MLPRegressor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Note:</a:t>
            </a:r>
            <a:r>
              <a:rPr lang="en-US" dirty="0"/>
              <a:t> We used a small incremental ANN to generate the training vs. validation convergence curve, and a final ANN pipeline for computing the test MSE.</a:t>
            </a:r>
          </a:p>
          <a:p>
            <a:pPr marL="0" indent="0">
              <a:buNone/>
            </a:pPr>
            <a:r>
              <a:rPr lang="en-US" b="1" dirty="0"/>
              <a:t>Architecture in Our Code: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Hidden layers: (64, 32)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Activation: </a:t>
            </a:r>
            <a:r>
              <a:rPr lang="en-US" dirty="0" err="1"/>
              <a:t>ReLU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Optimizer: Adam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 iterations: 1000</a:t>
            </a:r>
          </a:p>
          <a:p>
            <a:pPr marL="0" indent="0">
              <a:buNone/>
            </a:pPr>
            <a:r>
              <a:rPr lang="en-US" b="1" dirty="0"/>
              <a:t>Pipeline:</a:t>
            </a:r>
            <a:endParaRPr lang="en-US" dirty="0"/>
          </a:p>
          <a:p>
            <a:pPr marL="360000" lvl="2" indent="0">
              <a:buNone/>
            </a:pPr>
            <a:r>
              <a:rPr lang="en-US" dirty="0"/>
              <a:t>Pipeline([</a:t>
            </a:r>
          </a:p>
          <a:p>
            <a:pPr marL="360000" lvl="2" indent="0">
              <a:buNone/>
            </a:pPr>
            <a:r>
              <a:rPr lang="en-US" dirty="0"/>
              <a:t>    ("scaler", </a:t>
            </a:r>
            <a:r>
              <a:rPr lang="en-US" dirty="0" err="1"/>
              <a:t>StandardScaler</a:t>
            </a:r>
            <a:r>
              <a:rPr lang="en-US" dirty="0"/>
              <a:t>()),</a:t>
            </a:r>
          </a:p>
          <a:p>
            <a:pPr marL="360000" lvl="2" indent="0">
              <a:buNone/>
            </a:pPr>
            <a:r>
              <a:rPr lang="en-US" dirty="0"/>
              <a:t>    ("</a:t>
            </a:r>
            <a:r>
              <a:rPr lang="en-US" dirty="0" err="1"/>
              <a:t>mlp</a:t>
            </a:r>
            <a:r>
              <a:rPr lang="en-US" dirty="0"/>
              <a:t>", </a:t>
            </a:r>
            <a:r>
              <a:rPr lang="en-US" dirty="0" err="1"/>
              <a:t>MLPRegressor</a:t>
            </a:r>
            <a:r>
              <a:rPr lang="en-US" dirty="0"/>
              <a:t>(...))</a:t>
            </a:r>
          </a:p>
          <a:p>
            <a:pPr marL="360000" lvl="2" indent="0">
              <a:buNone/>
            </a:pPr>
            <a:r>
              <a:rPr lang="en-US" dirty="0"/>
              <a:t>])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3AE42EF-E348-2A66-DBBA-5F12DE9FD9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65875" y="2441238"/>
            <a:ext cx="4740275" cy="267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1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2F60-37C2-7F45-B046-2FBB28B21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40E3E-FC7C-671B-5908-6B81FB54C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Train/Test Split: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80%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20%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random_state</a:t>
            </a:r>
            <a:r>
              <a:rPr lang="en-US" dirty="0"/>
              <a:t> = 42 for reproducibility</a:t>
            </a:r>
          </a:p>
          <a:p>
            <a:pPr marL="0" indent="0">
              <a:buNone/>
            </a:pPr>
            <a:r>
              <a:rPr lang="en-US" b="1" dirty="0"/>
              <a:t>Evaluation Metric: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Mean Squared Error (MSE)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Lower = better</a:t>
            </a:r>
          </a:p>
          <a:p>
            <a:pPr marL="0" indent="0">
              <a:buNone/>
            </a:pPr>
            <a:r>
              <a:rPr lang="en-US" b="1" dirty="0"/>
              <a:t>Reason for MSE: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homework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regression loss</a:t>
            </a:r>
          </a:p>
        </p:txBody>
      </p:sp>
    </p:spTree>
    <p:extLst>
      <p:ext uri="{BB962C8B-B14F-4D97-AF65-F5344CB8AC3E}">
        <p14:creationId xmlns:p14="http://schemas.microsoft.com/office/powerpoint/2010/main" val="166448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F85E-3778-9A30-F1DE-44DFA3885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Svr</a:t>
            </a:r>
            <a:r>
              <a:rPr lang="en-US" b="1" dirty="0"/>
              <a:t>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2BA90-9839-7AF3-E819-A46D49F099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Support Vector Regressor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Test MSE: </a:t>
            </a:r>
            <a:r>
              <a:rPr lang="en-US" dirty="0"/>
              <a:t>9.27383</a:t>
            </a:r>
          </a:p>
          <a:p>
            <a:pPr marL="0" indent="0">
              <a:buNone/>
            </a:pPr>
            <a:r>
              <a:rPr lang="en-US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predicts mpg values with modest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SVR handles nonlinear relationships but sometimes underfits small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Reasonable performance given default hyperparameters</a:t>
            </a:r>
          </a:p>
        </p:txBody>
      </p:sp>
      <p:pic>
        <p:nvPicPr>
          <p:cNvPr id="6" name="Content Placeholder 5" descr="A graph with blue dots&#10;&#10;AI-generated content may be incorrect.">
            <a:extLst>
              <a:ext uri="{FF2B5EF4-FFF2-40B4-BE49-F238E27FC236}">
                <a16:creationId xmlns:a16="http://schemas.microsoft.com/office/drawing/2014/main" id="{83D50202-4E7B-4C01-EB73-D49BE7B902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65875" y="2199746"/>
            <a:ext cx="4740275" cy="3160183"/>
          </a:xfrm>
        </p:spPr>
      </p:pic>
    </p:spTree>
    <p:extLst>
      <p:ext uri="{BB962C8B-B14F-4D97-AF65-F5344CB8AC3E}">
        <p14:creationId xmlns:p14="http://schemas.microsoft.com/office/powerpoint/2010/main" val="673678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44E0-3C94-4575-B73C-BCE66463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06A4-08C0-52B8-248C-A72DF41B41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Artificial Neural Network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Test MSE: </a:t>
            </a:r>
            <a:r>
              <a:rPr lang="en-US" dirty="0"/>
              <a:t>7.38223</a:t>
            </a:r>
          </a:p>
          <a:p>
            <a:pPr marL="0" indent="0">
              <a:buNone/>
            </a:pPr>
            <a:r>
              <a:rPr lang="en-US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 error than SVR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ANN captured more complex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Increasing hidden layers or epochs could improve accuracy further</a:t>
            </a:r>
          </a:p>
        </p:txBody>
      </p:sp>
      <p:pic>
        <p:nvPicPr>
          <p:cNvPr id="6" name="Content Placeholder 5" descr="A graph with a line graph&#10;&#10;AI-generated content may be incorrect.">
            <a:extLst>
              <a:ext uri="{FF2B5EF4-FFF2-40B4-BE49-F238E27FC236}">
                <a16:creationId xmlns:a16="http://schemas.microsoft.com/office/drawing/2014/main" id="{F1C72FDE-3071-2F5B-9850-89EE996983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65875" y="2199746"/>
            <a:ext cx="4740275" cy="3160183"/>
          </a:xfrm>
        </p:spPr>
      </p:pic>
    </p:spTree>
    <p:extLst>
      <p:ext uri="{BB962C8B-B14F-4D97-AF65-F5344CB8AC3E}">
        <p14:creationId xmlns:p14="http://schemas.microsoft.com/office/powerpoint/2010/main" val="177485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55951-E3BB-9463-AEBB-95132EF2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988" y="540033"/>
            <a:ext cx="3884962" cy="1331604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b="1" dirty="0"/>
              <a:t>Model comparison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346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029ED-FE18-C293-292F-EAF246DF9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988" y="2759076"/>
            <a:ext cx="3884962" cy="3009899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b="1" dirty="0"/>
              <a:t>Conclusion: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ANN performed better</a:t>
            </a:r>
            <a:r>
              <a:rPr lang="en-US" dirty="0"/>
              <a:t> on the Auto MPG prediction task due to its ability to learn more complex relationships among features.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D9000E-708C-464D-A86F-4ABE391B6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6337" y="0"/>
            <a:ext cx="7205663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5802D5-1D26-A8E7-6506-2EAB598D9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0084545"/>
              </p:ext>
            </p:extLst>
          </p:nvPr>
        </p:nvGraphicFramePr>
        <p:xfrm>
          <a:off x="5537200" y="1257215"/>
          <a:ext cx="6113814" cy="434091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774254">
                  <a:extLst>
                    <a:ext uri="{9D8B030D-6E8A-4147-A177-3AD203B41FA5}">
                      <a16:colId xmlns:a16="http://schemas.microsoft.com/office/drawing/2014/main" val="2744510626"/>
                    </a:ext>
                  </a:extLst>
                </a:gridCol>
                <a:gridCol w="1654160">
                  <a:extLst>
                    <a:ext uri="{9D8B030D-6E8A-4147-A177-3AD203B41FA5}">
                      <a16:colId xmlns:a16="http://schemas.microsoft.com/office/drawing/2014/main" val="1003614741"/>
                    </a:ext>
                  </a:extLst>
                </a:gridCol>
                <a:gridCol w="2685400">
                  <a:extLst>
                    <a:ext uri="{9D8B030D-6E8A-4147-A177-3AD203B41FA5}">
                      <a16:colId xmlns:a16="http://schemas.microsoft.com/office/drawing/2014/main" val="2270548803"/>
                    </a:ext>
                  </a:extLst>
                </a:gridCol>
              </a:tblGrid>
              <a:tr h="1313303">
                <a:tc>
                  <a:txBody>
                    <a:bodyPr/>
                    <a:lstStyle/>
                    <a:p>
                      <a:r>
                        <a:rPr lang="en-US" sz="26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375945" marR="225567" marT="225567" marB="225567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solidFill>
                            <a:srgbClr val="FFFFFF"/>
                          </a:solidFill>
                        </a:rPr>
                        <a:t>Test MSE</a:t>
                      </a:r>
                    </a:p>
                  </a:txBody>
                  <a:tcPr marL="375945" marR="225567" marT="225567" marB="22556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375945" marR="225567" marT="225567" marB="22556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2454"/>
                  </a:ext>
                </a:extLst>
              </a:tr>
              <a:tr h="1714311">
                <a:tc>
                  <a:txBody>
                    <a:bodyPr/>
                    <a:lstStyle/>
                    <a:p>
                      <a:r>
                        <a:rPr lang="en-US" sz="2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SVR</a:t>
                      </a:r>
                    </a:p>
                  </a:txBody>
                  <a:tcPr marL="375945" marR="225567" marT="225567" marB="225567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~9.27</a:t>
                      </a:r>
                    </a:p>
                  </a:txBody>
                  <a:tcPr marL="375945" marR="225567" marT="225567" marB="22556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Good baseline, simpler</a:t>
                      </a:r>
                    </a:p>
                  </a:txBody>
                  <a:tcPr marL="375945" marR="225567" marT="225567" marB="22556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476181"/>
                  </a:ext>
                </a:extLst>
              </a:tr>
              <a:tr h="1313303">
                <a:tc>
                  <a:txBody>
                    <a:bodyPr/>
                    <a:lstStyle/>
                    <a:p>
                      <a:r>
                        <a:rPr lang="en-US" sz="2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ANN</a:t>
                      </a:r>
                    </a:p>
                  </a:txBody>
                  <a:tcPr marL="375945" marR="225567" marT="225567" marB="225567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~7.38</a:t>
                      </a:r>
                    </a:p>
                  </a:txBody>
                  <a:tcPr marL="375945" marR="225567" marT="225567" marB="22556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performance</a:t>
                      </a:r>
                    </a:p>
                  </a:txBody>
                  <a:tcPr marL="375945" marR="225567" marT="225567" marB="22556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870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22E6-DD09-BC4F-9D2C-B967EE96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2A408-6E83-26E3-966E-BC5EC031D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Cleaning and scaling is crucial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Both SVR and ANN can model mpg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ANN produced the lowest MSE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Pipelines kept code simple, clean, and reproducible</a:t>
            </a:r>
          </a:p>
        </p:txBody>
      </p:sp>
    </p:spTree>
    <p:extLst>
      <p:ext uri="{BB962C8B-B14F-4D97-AF65-F5344CB8AC3E}">
        <p14:creationId xmlns:p14="http://schemas.microsoft.com/office/powerpoint/2010/main" val="3958946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ABFB-FBAE-1990-B012-4E8F921F2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 and acknowledgments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7F6A4-5429-AEAD-5F71-0C715FF46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Dataset:</a:t>
            </a:r>
            <a:r>
              <a:rPr lang="en-US" dirty="0"/>
              <a:t> UCI Machine Learning Repository (Auto MPG dataset)</a:t>
            </a:r>
            <a:br>
              <a:rPr lang="en-US" dirty="0"/>
            </a:br>
            <a:r>
              <a:rPr lang="en-US" b="1" dirty="0"/>
              <a:t>Libraries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scikit-learn</a:t>
            </a:r>
          </a:p>
          <a:p>
            <a:pPr marL="0" indent="0">
              <a:buNone/>
            </a:pPr>
            <a:r>
              <a:rPr lang="en-US" b="1" dirty="0"/>
              <a:t>Acknowledgments: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Professor: Dr. Chaity Banerjee Mukherjee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Teaching Assistant: Shania </a:t>
            </a:r>
            <a:r>
              <a:rPr lang="en-US" dirty="0" err="1"/>
              <a:t>Shakri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79157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526</TotalTime>
  <Words>575</Words>
  <Application>Microsoft Macintosh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Avenir Next LT Pro Light</vt:lpstr>
      <vt:lpstr>Rockwell Nova Light</vt:lpstr>
      <vt:lpstr>Wingdings</vt:lpstr>
      <vt:lpstr>LeafVTI</vt:lpstr>
      <vt:lpstr>predicting automobile fuel efficiency using svr and ann</vt:lpstr>
      <vt:lpstr>Project description</vt:lpstr>
      <vt:lpstr>Dataset description</vt:lpstr>
      <vt:lpstr>Data preprocessing</vt:lpstr>
      <vt:lpstr>Svr approach</vt:lpstr>
      <vt:lpstr>ann approach </vt:lpstr>
      <vt:lpstr>Experimental setup</vt:lpstr>
      <vt:lpstr>Svr results</vt:lpstr>
      <vt:lpstr>Ann results</vt:lpstr>
      <vt:lpstr>Model comparison</vt:lpstr>
      <vt:lpstr>Key takeaways</vt:lpstr>
      <vt:lpstr>References and acknowledgments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Azaria Reed</dc:creator>
  <cp:lastModifiedBy>Azaria Reed</cp:lastModifiedBy>
  <cp:revision>6</cp:revision>
  <dcterms:created xsi:type="dcterms:W3CDTF">2025-12-03T00:08:02Z</dcterms:created>
  <dcterms:modified xsi:type="dcterms:W3CDTF">2025-12-05T09:08:42Z</dcterms:modified>
</cp:coreProperties>
</file>